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</p:sldMasterIdLst>
  <p:notesMasterIdLst>
    <p:notesMasterId r:id="rId6"/>
  </p:notesMasterIdLst>
  <p:sldIdLst>
    <p:sldId id="1753" r:id="rId4"/>
    <p:sldId id="1738" r:id="rId5"/>
    <p:sldId id="1748" r:id="rId7"/>
    <p:sldId id="392" r:id="rId8"/>
    <p:sldId id="1737" r:id="rId9"/>
    <p:sldId id="1731" r:id="rId10"/>
    <p:sldId id="1736" r:id="rId11"/>
    <p:sldId id="1734" r:id="rId12"/>
    <p:sldId id="1750" r:id="rId13"/>
    <p:sldId id="1735" r:id="rId14"/>
    <p:sldId id="1733" r:id="rId15"/>
    <p:sldId id="1739" r:id="rId16"/>
    <p:sldId id="1732" r:id="rId17"/>
    <p:sldId id="1742" r:id="rId18"/>
    <p:sldId id="1743" r:id="rId19"/>
    <p:sldId id="1740" r:id="rId20"/>
    <p:sldId id="1756" r:id="rId21"/>
    <p:sldId id="1755" r:id="rId22"/>
    <p:sldId id="1758" r:id="rId23"/>
    <p:sldId id="341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AAD1F020-944B-4C13-A97F-7B6B80C12DD0}">
          <p14:sldIdLst>
            <p14:sldId id="1753"/>
          </p14:sldIdLst>
        </p14:section>
        <p14:section name="目录页" id="{A1B3ACC7-B64F-4FC4-B0A5-24271E4B7AAB}">
          <p14:sldIdLst>
            <p14:sldId id="1738"/>
            <p14:sldId id="1748"/>
            <p14:sldId id="392"/>
            <p14:sldId id="1737"/>
            <p14:sldId id="1731"/>
            <p14:sldId id="1736"/>
            <p14:sldId id="1734"/>
            <p14:sldId id="1750"/>
            <p14:sldId id="1735"/>
            <p14:sldId id="1733"/>
            <p14:sldId id="1739"/>
            <p14:sldId id="1732"/>
            <p14:sldId id="1742"/>
            <p14:sldId id="1743"/>
            <p14:sldId id="1740"/>
            <p14:sldId id="1756"/>
            <p14:sldId id="1755"/>
            <p14:sldId id="1758"/>
            <p14:sldId id="341"/>
          </p14:sldIdLst>
        </p14:section>
        <p14:section name="过渡页" id="{F9AEF331-3448-4878-8CC0-AE1763C71F23}">
          <p14:sldIdLst/>
        </p14:section>
        <p14:section name="二段内容页" id="{59600790-C83C-447A-9378-AD0D859D4947}">
          <p14:sldIdLst/>
        </p14:section>
        <p14:section name="三段内容页" id="{8C676258-86C4-4AFE-9104-A88E00469D78}">
          <p14:sldIdLst/>
        </p14:section>
        <p14:section name="四段内容页" id="{55B9FD77-DAF6-4649-8595-8B922BFA7B5F}">
          <p14:sldIdLst/>
        </p14:section>
        <p14:section name="五段内容页" id="{8D74CFDC-2BA1-4FE8-8A0D-B1B65D2961AF}">
          <p14:sldIdLst/>
        </p14:section>
        <p14:section name="六段内容页" id="{369348A9-2776-4E08-BA13-96A88C7CA7F2}">
          <p14:sldIdLst/>
        </p14:section>
        <p14:section name="时间轴" id="{C599B81E-EB0D-4CEB-B9FC-4A27E9B545F9}">
          <p14:sldIdLst/>
        </p14:section>
        <p14:section name="校园特色页（时间轴、内容展示）" id="{B710FB4F-6141-4DA2-98DB-90E986E754EC}">
          <p14:sldIdLst/>
        </p14:section>
        <p14:section name="地图页" id="{D63BA944-DFA2-443F-ACAF-99CE6DAED8FF}">
          <p14:sldIdLst/>
        </p14:section>
        <p14:section name="公式页" id="{D5E5088E-93F4-4FCC-8B8D-2430B9E419F9}">
          <p14:sldIdLst/>
        </p14:section>
        <p14:section name="数据图表页" id="{FBCB13A9-95AD-412A-959F-0F4871E557CE}">
          <p14:sldIdLst/>
        </p14:section>
        <p14:section name="参考文献" id="{FD3FAFDF-B7B8-499F-B906-079D4D62FA9B}">
          <p14:sldIdLst/>
        </p14:section>
        <p14:section name="书籍、名言引用" id="{FB8A3680-E088-4CBA-8B0E-0702885EAB50}">
          <p14:sldIdLst/>
        </p14:section>
        <p14:section name="样机" id="{B35ECF4C-8952-4F6F-AD61-F791B537CF70}">
          <p14:sldIdLst/>
        </p14:section>
        <p14:section name="人物、活动介绍页" id="{3DE91260-CCCE-4B15-92AB-2D0097AACB19}">
          <p14:sldIdLst/>
        </p14:section>
        <p14:section name="尾页" id="{1BC6E771-80BB-4106-A6E8-692DCA0B9682}">
          <p14:sldIdLst/>
        </p14:section>
        <p14:section name="过渡页补充" id="{DDBC2C20-D2C1-4B68-97D4-402FBB18603A}">
          <p14:sldIdLst/>
        </p14:section>
        <p14:section name="使用规范" id="{1CA0B602-8838-4457-A7B0-E1D03FEA9F71}">
          <p14:sldIdLst/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403" userDrawn="1">
          <p15:clr>
            <a:srgbClr val="A4A3A4"/>
          </p15:clr>
        </p15:guide>
        <p15:guide id="4" pos="7277" userDrawn="1">
          <p15:clr>
            <a:srgbClr val="A4A3A4"/>
          </p15:clr>
        </p15:guide>
        <p15:guide id="5" orient="horz" pos="622" userDrawn="1">
          <p15:clr>
            <a:srgbClr val="A4A3A4"/>
          </p15:clr>
        </p15:guide>
        <p15:guide id="7" orient="horz" pos="3950" userDrawn="1">
          <p15:clr>
            <a:srgbClr val="A4A3A4"/>
          </p15:clr>
        </p15:guide>
        <p15:guide id="8" orient="horz" pos="3863" userDrawn="1">
          <p15:clr>
            <a:srgbClr val="A4A3A4"/>
          </p15:clr>
        </p15:guide>
        <p15:guide id="9" pos="786" userDrawn="1">
          <p15:clr>
            <a:srgbClr val="A4A3A4"/>
          </p15:clr>
        </p15:guide>
        <p15:guide id="10" pos="69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3D1"/>
    <a:srgbClr val="AB2715"/>
    <a:srgbClr val="EBEBEB"/>
    <a:srgbClr val="ECECEC"/>
    <a:srgbClr val="EFEFEF"/>
    <a:srgbClr val="DBDBDB"/>
    <a:srgbClr val="D42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66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512" y="930"/>
      </p:cViewPr>
      <p:guideLst>
        <p:guide pos="3840"/>
        <p:guide pos="403"/>
        <p:guide pos="7277"/>
        <p:guide orient="horz" pos="622"/>
        <p:guide orient="horz" pos="3950"/>
        <p:guide orient="horz" pos="3863"/>
        <p:guide pos="786"/>
        <p:guide pos="69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4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32318-C54D-4318-8B24-990670BDD1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00C9D-0FE3-4B2B-A9E5-0C7084C3D5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&lt;&lt;How to keep pushing ML accelerator performance? Know your rooflines!&gt;&gt;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>
                <a:sym typeface="+mn-ea"/>
              </a:rPr>
              <a:t>FSDP 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pytorch </a:t>
            </a:r>
            <a:r>
              <a:rPr lang="zh-CN" altLang="en-US">
                <a:sym typeface="+mn-ea"/>
              </a:rPr>
              <a:t>中的一些使用方式</a:t>
            </a:r>
            <a:endParaRPr lang="zh-CN" altLang="en-US"/>
          </a:p>
          <a:p>
            <a:r>
              <a:rPr lang="en-US" altLang="en-US">
                <a:sym typeface="+mn-ea"/>
              </a:rPr>
              <a:t>https://github.com/pytorch/pytorch/blob/v2.6.0/torch/distributed/fsdp/api.py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some </a:t>
            </a:r>
            <a:r>
              <a:rPr lang="zh-CN" altLang="en-US"/>
              <a:t>实验结果</a:t>
            </a:r>
            <a:r>
              <a:rPr lang="en-US" altLang="zh-CN"/>
              <a:t> </a:t>
            </a:r>
            <a:r>
              <a:rPr lang="zh-CN" altLang="en-US"/>
              <a:t>跑了一些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batch4 </a:t>
            </a:r>
            <a:r>
              <a:rPr lang="zh-CN" altLang="en-US">
                <a:sym typeface="+mn-ea"/>
              </a:rPr>
              <a:t>一次处理更多样本；另外两组需要执行四轮较小的前向和反向。即使最后才同步梯度，四轮计算、参数聚合和调度也不会自动合并成一轮。较大的矩阵乘可能执行得更高效，重复通信和启动开销也可能更少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这说明分片粒度越细，并不一定越快。细粒度会增加通信调用和 </a:t>
            </a:r>
            <a:r>
              <a:rPr lang="en-US" altLang="en-US">
                <a:sym typeface="+mn-ea"/>
              </a:rPr>
              <a:t>FSDP </a:t>
            </a:r>
            <a:r>
              <a:rPr lang="zh-CN" altLang="en-US">
                <a:sym typeface="+mn-ea"/>
              </a:rPr>
              <a:t>调度次数；粗粒度可能减少这些开销，但会让更多完整参数同时驻留。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前向少保存部分中间结果，反向需要时重新计算。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The main content review of this survey about diffusion models in robotics</a:t>
            </a: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图片占位符 69"/>
          <p:cNvSpPr>
            <a:spLocks noGrp="1"/>
          </p:cNvSpPr>
          <p:nvPr>
            <p:ph type="pic" sz="quarter" idx="12"/>
          </p:nvPr>
        </p:nvSpPr>
        <p:spPr>
          <a:xfrm>
            <a:off x="5764211" y="2590167"/>
            <a:ext cx="6427787" cy="42370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4" name="图片占位符 23"/>
          <p:cNvSpPr>
            <a:spLocks noGrp="1"/>
          </p:cNvSpPr>
          <p:nvPr>
            <p:ph type="pic" sz="quarter" idx="11"/>
          </p:nvPr>
        </p:nvSpPr>
        <p:spPr>
          <a:xfrm>
            <a:off x="0" y="2495268"/>
            <a:ext cx="5764212" cy="4331936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7" name="图片占位符 66"/>
          <p:cNvSpPr>
            <a:spLocks noGrp="1"/>
          </p:cNvSpPr>
          <p:nvPr>
            <p:ph type="pic" sz="quarter" idx="10"/>
          </p:nvPr>
        </p:nvSpPr>
        <p:spPr>
          <a:xfrm>
            <a:off x="-1" y="1"/>
            <a:ext cx="12191999" cy="4064780"/>
          </a:xfrm>
          <a:custGeom>
            <a:avLst/>
            <a:gdLst>
              <a:gd name="connsiteX0" fmla="*/ 0 w 12179402"/>
              <a:gd name="connsiteY0" fmla="*/ 0 h 4062881"/>
              <a:gd name="connsiteX1" fmla="*/ 12179402 w 12179402"/>
              <a:gd name="connsiteY1" fmla="*/ 0 h 4062881"/>
              <a:gd name="connsiteX2" fmla="*/ 12179402 w 12179402"/>
              <a:gd name="connsiteY2" fmla="*/ 2622353 h 4062881"/>
              <a:gd name="connsiteX3" fmla="*/ 6086489 w 12179402"/>
              <a:gd name="connsiteY3" fmla="*/ 4062881 h 4062881"/>
              <a:gd name="connsiteX4" fmla="*/ 7922 w 12179402"/>
              <a:gd name="connsiteY4" fmla="*/ 2621254 h 4062881"/>
              <a:gd name="connsiteX5" fmla="*/ 0 w 12179402"/>
              <a:gd name="connsiteY5" fmla="*/ 2621254 h 4062881"/>
              <a:gd name="connsiteX6" fmla="*/ 0 w 12179402"/>
              <a:gd name="connsiteY6" fmla="*/ 2619375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9402" h="4062881">
                <a:moveTo>
                  <a:pt x="0" y="0"/>
                </a:moveTo>
                <a:lnTo>
                  <a:pt x="12179402" y="0"/>
                </a:lnTo>
                <a:lnTo>
                  <a:pt x="12179402" y="2622353"/>
                </a:lnTo>
                <a:lnTo>
                  <a:pt x="6086489" y="4062881"/>
                </a:lnTo>
                <a:lnTo>
                  <a:pt x="7922" y="2621254"/>
                </a:lnTo>
                <a:lnTo>
                  <a:pt x="0" y="2621254"/>
                </a:lnTo>
                <a:lnTo>
                  <a:pt x="0" y="26193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 hasCustomPrompt="1"/>
          </p:nvPr>
        </p:nvSpPr>
        <p:spPr>
          <a:xfrm>
            <a:off x="2351589" y="4243469"/>
            <a:ext cx="7488822" cy="830997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None/>
              <a:defRPr sz="4800" b="1" spc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8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8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8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8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四川大学毕业答辩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351590" y="4926278"/>
            <a:ext cx="7846510" cy="676944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None/>
              <a:defRPr sz="2000" spc="0">
                <a:solidFill>
                  <a:srgbClr val="717371"/>
                </a:solidFill>
                <a:latin typeface="Arial" panose="02080604020202020204" pitchFamily="34" charset="0"/>
                <a:ea typeface="Microsoft YaHei" panose="020B0503020204020204" pitchFamily="34" charset="-122"/>
                <a:sym typeface="Arial" panose="0208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8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8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80604020202020204" pitchFamily="34" charset="0"/>
              <a:buNone/>
              <a:defRPr/>
            </a:lvl4pPr>
            <a:lvl5pPr marL="1828800" indent="-228600" algn="ctr" defTabSz="914400" rtl="0" eaLnBrk="1" fontAlgn="auto" latinLnBrk="0" hangingPunct="1">
              <a:lnSpc>
                <a:spcPct val="90000"/>
              </a:lnSpc>
              <a:buFont typeface="Arial" panose="02080604020202020204" pitchFamily="34" charset="0"/>
              <a:buNone/>
              <a:defRPr sz="2000" spc="0">
                <a:solidFill>
                  <a:srgbClr val="717371"/>
                </a:solidFill>
                <a:latin typeface="Arial" panose="02080604020202020204" pitchFamily="34" charset="0"/>
                <a:ea typeface="Microsoft YaHei" panose="020B0503020204020204" pitchFamily="34" charset="-122"/>
                <a:sym typeface="Arial" panose="02080604020202020204" pitchFamily="34" charset="0"/>
              </a:defRPr>
            </a:lvl5pPr>
          </a:lstStyle>
          <a:p>
            <a:pPr lvl="0"/>
            <a:r>
              <a:rPr lang="en-US" altLang="zh-CN"/>
              <a:t>PPT Template for Sichuan University graduates</a:t>
            </a:r>
            <a:endParaRPr lang="en-US" altLang="zh-CN"/>
          </a:p>
          <a:p>
            <a:pPr lvl="0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0"/>
          </p:nvPr>
        </p:nvSpPr>
        <p:spPr>
          <a:xfrm>
            <a:off x="6" y="10473"/>
            <a:ext cx="12191994" cy="3429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ísḷïḋé"/>
          <p:cNvGrpSpPr/>
          <p:nvPr userDrawn="1"/>
        </p:nvGrpSpPr>
        <p:grpSpPr>
          <a:xfrm>
            <a:off x="2018769" y="-653080"/>
            <a:ext cx="8154462" cy="8164160"/>
            <a:chOff x="1735138" y="2095500"/>
            <a:chExt cx="2667000" cy="2670175"/>
          </a:xfrm>
          <a:solidFill>
            <a:schemeClr val="accent5">
              <a:alpha val="5000"/>
            </a:schemeClr>
          </a:solidFill>
        </p:grpSpPr>
        <p:sp>
          <p:nvSpPr>
            <p:cNvPr id="8" name="iṣ1íḋê"/>
            <p:cNvSpPr/>
            <p:nvPr/>
          </p:nvSpPr>
          <p:spPr bwMode="auto">
            <a:xfrm>
              <a:off x="2913063" y="3238500"/>
              <a:ext cx="319088" cy="762000"/>
            </a:xfrm>
            <a:custGeom>
              <a:avLst/>
              <a:gdLst>
                <a:gd name="T0" fmla="*/ 56 w 97"/>
                <a:gd name="T1" fmla="*/ 193 h 231"/>
                <a:gd name="T2" fmla="*/ 41 w 97"/>
                <a:gd name="T3" fmla="*/ 193 h 231"/>
                <a:gd name="T4" fmla="*/ 41 w 97"/>
                <a:gd name="T5" fmla="*/ 22 h 231"/>
                <a:gd name="T6" fmla="*/ 23 w 97"/>
                <a:gd name="T7" fmla="*/ 0 h 231"/>
                <a:gd name="T8" fmla="*/ 4 w 97"/>
                <a:gd name="T9" fmla="*/ 22 h 231"/>
                <a:gd name="T10" fmla="*/ 1 w 97"/>
                <a:gd name="T11" fmla="*/ 175 h 231"/>
                <a:gd name="T12" fmla="*/ 48 w 97"/>
                <a:gd name="T13" fmla="*/ 231 h 231"/>
                <a:gd name="T14" fmla="*/ 96 w 97"/>
                <a:gd name="T15" fmla="*/ 175 h 231"/>
                <a:gd name="T16" fmla="*/ 92 w 97"/>
                <a:gd name="T17" fmla="*/ 22 h 231"/>
                <a:gd name="T18" fmla="*/ 73 w 97"/>
                <a:gd name="T19" fmla="*/ 0 h 231"/>
                <a:gd name="T20" fmla="*/ 56 w 97"/>
                <a:gd name="T21" fmla="*/ 22 h 231"/>
                <a:gd name="T22" fmla="*/ 56 w 97"/>
                <a:gd name="T23" fmla="*/ 19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7" h="231">
                  <a:moveTo>
                    <a:pt x="56" y="193"/>
                  </a:moveTo>
                  <a:cubicBezTo>
                    <a:pt x="41" y="193"/>
                    <a:pt x="41" y="193"/>
                    <a:pt x="41" y="193"/>
                  </a:cubicBezTo>
                  <a:cubicBezTo>
                    <a:pt x="41" y="136"/>
                    <a:pt x="41" y="79"/>
                    <a:pt x="41" y="22"/>
                  </a:cubicBezTo>
                  <a:cubicBezTo>
                    <a:pt x="40" y="11"/>
                    <a:pt x="38" y="1"/>
                    <a:pt x="23" y="0"/>
                  </a:cubicBezTo>
                  <a:cubicBezTo>
                    <a:pt x="13" y="0"/>
                    <a:pt x="4" y="7"/>
                    <a:pt x="4" y="22"/>
                  </a:cubicBezTo>
                  <a:cubicBezTo>
                    <a:pt x="3" y="73"/>
                    <a:pt x="2" y="124"/>
                    <a:pt x="1" y="175"/>
                  </a:cubicBezTo>
                  <a:cubicBezTo>
                    <a:pt x="0" y="206"/>
                    <a:pt x="15" y="231"/>
                    <a:pt x="48" y="231"/>
                  </a:cubicBezTo>
                  <a:cubicBezTo>
                    <a:pt x="82" y="231"/>
                    <a:pt x="97" y="206"/>
                    <a:pt x="96" y="175"/>
                  </a:cubicBezTo>
                  <a:cubicBezTo>
                    <a:pt x="95" y="124"/>
                    <a:pt x="94" y="73"/>
                    <a:pt x="92" y="22"/>
                  </a:cubicBezTo>
                  <a:cubicBezTo>
                    <a:pt x="92" y="7"/>
                    <a:pt x="84" y="0"/>
                    <a:pt x="73" y="0"/>
                  </a:cubicBezTo>
                  <a:cubicBezTo>
                    <a:pt x="58" y="1"/>
                    <a:pt x="56" y="11"/>
                    <a:pt x="56" y="22"/>
                  </a:cubicBezTo>
                  <a:cubicBezTo>
                    <a:pt x="56" y="79"/>
                    <a:pt x="56" y="136"/>
                    <a:pt x="56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i$ḻïďê"/>
            <p:cNvSpPr/>
            <p:nvPr/>
          </p:nvSpPr>
          <p:spPr bwMode="auto">
            <a:xfrm>
              <a:off x="2008188" y="2713038"/>
              <a:ext cx="257175" cy="342900"/>
            </a:xfrm>
            <a:custGeom>
              <a:avLst/>
              <a:gdLst>
                <a:gd name="T0" fmla="*/ 13 w 78"/>
                <a:gd name="T1" fmla="*/ 80 h 104"/>
                <a:gd name="T2" fmla="*/ 6 w 78"/>
                <a:gd name="T3" fmla="*/ 80 h 104"/>
                <a:gd name="T4" fmla="*/ 1 w 78"/>
                <a:gd name="T5" fmla="*/ 85 h 104"/>
                <a:gd name="T6" fmla="*/ 7 w 78"/>
                <a:gd name="T7" fmla="*/ 96 h 104"/>
                <a:gd name="T8" fmla="*/ 36 w 78"/>
                <a:gd name="T9" fmla="*/ 103 h 104"/>
                <a:gd name="T10" fmla="*/ 40 w 78"/>
                <a:gd name="T11" fmla="*/ 94 h 104"/>
                <a:gd name="T12" fmla="*/ 26 w 78"/>
                <a:gd name="T13" fmla="*/ 87 h 104"/>
                <a:gd name="T14" fmla="*/ 20 w 78"/>
                <a:gd name="T15" fmla="*/ 62 h 104"/>
                <a:gd name="T16" fmla="*/ 27 w 78"/>
                <a:gd name="T17" fmla="*/ 38 h 104"/>
                <a:gd name="T18" fmla="*/ 32 w 78"/>
                <a:gd name="T19" fmla="*/ 40 h 104"/>
                <a:gd name="T20" fmla="*/ 38 w 78"/>
                <a:gd name="T21" fmla="*/ 54 h 104"/>
                <a:gd name="T22" fmla="*/ 35 w 78"/>
                <a:gd name="T23" fmla="*/ 56 h 104"/>
                <a:gd name="T24" fmla="*/ 28 w 78"/>
                <a:gd name="T25" fmla="*/ 56 h 104"/>
                <a:gd name="T26" fmla="*/ 26 w 78"/>
                <a:gd name="T27" fmla="*/ 63 h 104"/>
                <a:gd name="T28" fmla="*/ 34 w 78"/>
                <a:gd name="T29" fmla="*/ 65 h 104"/>
                <a:gd name="T30" fmla="*/ 38 w 78"/>
                <a:gd name="T31" fmla="*/ 65 h 104"/>
                <a:gd name="T32" fmla="*/ 37 w 78"/>
                <a:gd name="T33" fmla="*/ 74 h 104"/>
                <a:gd name="T34" fmla="*/ 37 w 78"/>
                <a:gd name="T35" fmla="*/ 80 h 104"/>
                <a:gd name="T36" fmla="*/ 45 w 78"/>
                <a:gd name="T37" fmla="*/ 80 h 104"/>
                <a:gd name="T38" fmla="*/ 45 w 78"/>
                <a:gd name="T39" fmla="*/ 68 h 104"/>
                <a:gd name="T40" fmla="*/ 49 w 78"/>
                <a:gd name="T41" fmla="*/ 57 h 104"/>
                <a:gd name="T42" fmla="*/ 58 w 78"/>
                <a:gd name="T43" fmla="*/ 55 h 104"/>
                <a:gd name="T44" fmla="*/ 66 w 78"/>
                <a:gd name="T45" fmla="*/ 42 h 104"/>
                <a:gd name="T46" fmla="*/ 71 w 78"/>
                <a:gd name="T47" fmla="*/ 17 h 104"/>
                <a:gd name="T48" fmla="*/ 73 w 78"/>
                <a:gd name="T49" fmla="*/ 7 h 104"/>
                <a:gd name="T50" fmla="*/ 38 w 78"/>
                <a:gd name="T51" fmla="*/ 8 h 104"/>
                <a:gd name="T52" fmla="*/ 16 w 78"/>
                <a:gd name="T53" fmla="*/ 40 h 104"/>
                <a:gd name="T54" fmla="*/ 12 w 78"/>
                <a:gd name="T55" fmla="*/ 69 h 104"/>
                <a:gd name="T56" fmla="*/ 13 w 78"/>
                <a:gd name="T57" fmla="*/ 80 h 104"/>
                <a:gd name="T58" fmla="*/ 13 w 78"/>
                <a:gd name="T59" fmla="*/ 80 h 104"/>
                <a:gd name="T60" fmla="*/ 44 w 78"/>
                <a:gd name="T61" fmla="*/ 54 h 104"/>
                <a:gd name="T62" fmla="*/ 42 w 78"/>
                <a:gd name="T63" fmla="*/ 56 h 104"/>
                <a:gd name="T64" fmla="*/ 42 w 78"/>
                <a:gd name="T65" fmla="*/ 39 h 104"/>
                <a:gd name="T66" fmla="*/ 35 w 78"/>
                <a:gd name="T67" fmla="*/ 35 h 104"/>
                <a:gd name="T68" fmla="*/ 29 w 78"/>
                <a:gd name="T69" fmla="*/ 35 h 104"/>
                <a:gd name="T70" fmla="*/ 36 w 78"/>
                <a:gd name="T71" fmla="*/ 23 h 104"/>
                <a:gd name="T72" fmla="*/ 54 w 78"/>
                <a:gd name="T73" fmla="*/ 11 h 104"/>
                <a:gd name="T74" fmla="*/ 55 w 78"/>
                <a:gd name="T75" fmla="*/ 28 h 104"/>
                <a:gd name="T76" fmla="*/ 54 w 78"/>
                <a:gd name="T77" fmla="*/ 45 h 104"/>
                <a:gd name="T78" fmla="*/ 48 w 78"/>
                <a:gd name="T79" fmla="*/ 48 h 104"/>
                <a:gd name="T80" fmla="*/ 44 w 78"/>
                <a:gd name="T81" fmla="*/ 5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8" h="104">
                  <a:moveTo>
                    <a:pt x="13" y="80"/>
                  </a:moveTo>
                  <a:cubicBezTo>
                    <a:pt x="12" y="81"/>
                    <a:pt x="9" y="79"/>
                    <a:pt x="6" y="80"/>
                  </a:cubicBezTo>
                  <a:cubicBezTo>
                    <a:pt x="3" y="82"/>
                    <a:pt x="2" y="84"/>
                    <a:pt x="1" y="85"/>
                  </a:cubicBezTo>
                  <a:cubicBezTo>
                    <a:pt x="0" y="87"/>
                    <a:pt x="1" y="92"/>
                    <a:pt x="7" y="96"/>
                  </a:cubicBezTo>
                  <a:cubicBezTo>
                    <a:pt x="12" y="100"/>
                    <a:pt x="32" y="104"/>
                    <a:pt x="36" y="103"/>
                  </a:cubicBezTo>
                  <a:cubicBezTo>
                    <a:pt x="40" y="102"/>
                    <a:pt x="43" y="94"/>
                    <a:pt x="40" y="94"/>
                  </a:cubicBezTo>
                  <a:cubicBezTo>
                    <a:pt x="36" y="93"/>
                    <a:pt x="28" y="91"/>
                    <a:pt x="26" y="87"/>
                  </a:cubicBezTo>
                  <a:cubicBezTo>
                    <a:pt x="23" y="83"/>
                    <a:pt x="19" y="76"/>
                    <a:pt x="20" y="62"/>
                  </a:cubicBezTo>
                  <a:cubicBezTo>
                    <a:pt x="20" y="48"/>
                    <a:pt x="25" y="40"/>
                    <a:pt x="27" y="38"/>
                  </a:cubicBezTo>
                  <a:cubicBezTo>
                    <a:pt x="29" y="37"/>
                    <a:pt x="32" y="39"/>
                    <a:pt x="32" y="40"/>
                  </a:cubicBezTo>
                  <a:cubicBezTo>
                    <a:pt x="33" y="41"/>
                    <a:pt x="37" y="53"/>
                    <a:pt x="38" y="54"/>
                  </a:cubicBezTo>
                  <a:cubicBezTo>
                    <a:pt x="38" y="54"/>
                    <a:pt x="38" y="58"/>
                    <a:pt x="35" y="56"/>
                  </a:cubicBezTo>
                  <a:cubicBezTo>
                    <a:pt x="33" y="55"/>
                    <a:pt x="30" y="54"/>
                    <a:pt x="28" y="56"/>
                  </a:cubicBezTo>
                  <a:cubicBezTo>
                    <a:pt x="25" y="57"/>
                    <a:pt x="23" y="60"/>
                    <a:pt x="26" y="63"/>
                  </a:cubicBezTo>
                  <a:cubicBezTo>
                    <a:pt x="29" y="66"/>
                    <a:pt x="32" y="65"/>
                    <a:pt x="34" y="65"/>
                  </a:cubicBezTo>
                  <a:cubicBezTo>
                    <a:pt x="35" y="64"/>
                    <a:pt x="39" y="63"/>
                    <a:pt x="38" y="65"/>
                  </a:cubicBezTo>
                  <a:cubicBezTo>
                    <a:pt x="37" y="67"/>
                    <a:pt x="37" y="74"/>
                    <a:pt x="37" y="74"/>
                  </a:cubicBezTo>
                  <a:cubicBezTo>
                    <a:pt x="37" y="74"/>
                    <a:pt x="34" y="78"/>
                    <a:pt x="37" y="80"/>
                  </a:cubicBezTo>
                  <a:cubicBezTo>
                    <a:pt x="40" y="82"/>
                    <a:pt x="45" y="82"/>
                    <a:pt x="45" y="80"/>
                  </a:cubicBezTo>
                  <a:cubicBezTo>
                    <a:pt x="45" y="78"/>
                    <a:pt x="45" y="72"/>
                    <a:pt x="45" y="68"/>
                  </a:cubicBezTo>
                  <a:cubicBezTo>
                    <a:pt x="46" y="65"/>
                    <a:pt x="47" y="59"/>
                    <a:pt x="49" y="57"/>
                  </a:cubicBezTo>
                  <a:cubicBezTo>
                    <a:pt x="52" y="56"/>
                    <a:pt x="54" y="57"/>
                    <a:pt x="58" y="55"/>
                  </a:cubicBezTo>
                  <a:cubicBezTo>
                    <a:pt x="61" y="52"/>
                    <a:pt x="66" y="46"/>
                    <a:pt x="66" y="42"/>
                  </a:cubicBezTo>
                  <a:cubicBezTo>
                    <a:pt x="66" y="39"/>
                    <a:pt x="69" y="20"/>
                    <a:pt x="71" y="17"/>
                  </a:cubicBezTo>
                  <a:cubicBezTo>
                    <a:pt x="73" y="14"/>
                    <a:pt x="78" y="12"/>
                    <a:pt x="73" y="7"/>
                  </a:cubicBezTo>
                  <a:cubicBezTo>
                    <a:pt x="68" y="2"/>
                    <a:pt x="48" y="0"/>
                    <a:pt x="38" y="8"/>
                  </a:cubicBezTo>
                  <a:cubicBezTo>
                    <a:pt x="29" y="15"/>
                    <a:pt x="21" y="26"/>
                    <a:pt x="16" y="40"/>
                  </a:cubicBezTo>
                  <a:cubicBezTo>
                    <a:pt x="11" y="54"/>
                    <a:pt x="10" y="62"/>
                    <a:pt x="12" y="69"/>
                  </a:cubicBezTo>
                  <a:cubicBezTo>
                    <a:pt x="14" y="77"/>
                    <a:pt x="15" y="79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lose/>
                  <a:moveTo>
                    <a:pt x="44" y="54"/>
                  </a:moveTo>
                  <a:cubicBezTo>
                    <a:pt x="44" y="54"/>
                    <a:pt x="43" y="54"/>
                    <a:pt x="42" y="56"/>
                  </a:cubicBezTo>
                  <a:cubicBezTo>
                    <a:pt x="42" y="57"/>
                    <a:pt x="42" y="44"/>
                    <a:pt x="42" y="39"/>
                  </a:cubicBezTo>
                  <a:cubicBezTo>
                    <a:pt x="42" y="34"/>
                    <a:pt x="38" y="34"/>
                    <a:pt x="35" y="35"/>
                  </a:cubicBezTo>
                  <a:cubicBezTo>
                    <a:pt x="31" y="35"/>
                    <a:pt x="31" y="35"/>
                    <a:pt x="29" y="35"/>
                  </a:cubicBezTo>
                  <a:cubicBezTo>
                    <a:pt x="31" y="31"/>
                    <a:pt x="33" y="28"/>
                    <a:pt x="36" y="23"/>
                  </a:cubicBezTo>
                  <a:cubicBezTo>
                    <a:pt x="40" y="17"/>
                    <a:pt x="46" y="11"/>
                    <a:pt x="54" y="11"/>
                  </a:cubicBezTo>
                  <a:cubicBezTo>
                    <a:pt x="58" y="10"/>
                    <a:pt x="56" y="24"/>
                    <a:pt x="55" y="28"/>
                  </a:cubicBezTo>
                  <a:cubicBezTo>
                    <a:pt x="55" y="31"/>
                    <a:pt x="55" y="43"/>
                    <a:pt x="54" y="45"/>
                  </a:cubicBezTo>
                  <a:cubicBezTo>
                    <a:pt x="54" y="48"/>
                    <a:pt x="52" y="47"/>
                    <a:pt x="48" y="48"/>
                  </a:cubicBezTo>
                  <a:cubicBezTo>
                    <a:pt x="45" y="49"/>
                    <a:pt x="44" y="54"/>
                    <a:pt x="44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ïṧḻíḓé"/>
            <p:cNvSpPr/>
            <p:nvPr/>
          </p:nvSpPr>
          <p:spPr bwMode="auto">
            <a:xfrm>
              <a:off x="2540001" y="2389188"/>
              <a:ext cx="98425" cy="225425"/>
            </a:xfrm>
            <a:custGeom>
              <a:avLst/>
              <a:gdLst>
                <a:gd name="T0" fmla="*/ 4 w 30"/>
                <a:gd name="T1" fmla="*/ 2 h 68"/>
                <a:gd name="T2" fmla="*/ 2 w 30"/>
                <a:gd name="T3" fmla="*/ 10 h 68"/>
                <a:gd name="T4" fmla="*/ 10 w 30"/>
                <a:gd name="T5" fmla="*/ 22 h 68"/>
                <a:gd name="T6" fmla="*/ 19 w 30"/>
                <a:gd name="T7" fmla="*/ 50 h 68"/>
                <a:gd name="T8" fmla="*/ 20 w 30"/>
                <a:gd name="T9" fmla="*/ 60 h 68"/>
                <a:gd name="T10" fmla="*/ 25 w 30"/>
                <a:gd name="T11" fmla="*/ 67 h 68"/>
                <a:gd name="T12" fmla="*/ 27 w 30"/>
                <a:gd name="T13" fmla="*/ 58 h 68"/>
                <a:gd name="T14" fmla="*/ 19 w 30"/>
                <a:gd name="T15" fmla="*/ 30 h 68"/>
                <a:gd name="T16" fmla="*/ 14 w 30"/>
                <a:gd name="T17" fmla="*/ 15 h 68"/>
                <a:gd name="T18" fmla="*/ 11 w 30"/>
                <a:gd name="T19" fmla="*/ 6 h 68"/>
                <a:gd name="T20" fmla="*/ 4 w 30"/>
                <a:gd name="T21" fmla="*/ 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" h="68">
                  <a:moveTo>
                    <a:pt x="4" y="2"/>
                  </a:moveTo>
                  <a:cubicBezTo>
                    <a:pt x="1" y="3"/>
                    <a:pt x="0" y="5"/>
                    <a:pt x="2" y="10"/>
                  </a:cubicBezTo>
                  <a:cubicBezTo>
                    <a:pt x="5" y="14"/>
                    <a:pt x="8" y="13"/>
                    <a:pt x="10" y="22"/>
                  </a:cubicBezTo>
                  <a:cubicBezTo>
                    <a:pt x="13" y="30"/>
                    <a:pt x="18" y="47"/>
                    <a:pt x="19" y="50"/>
                  </a:cubicBezTo>
                  <a:cubicBezTo>
                    <a:pt x="20" y="53"/>
                    <a:pt x="20" y="58"/>
                    <a:pt x="20" y="60"/>
                  </a:cubicBezTo>
                  <a:cubicBezTo>
                    <a:pt x="20" y="62"/>
                    <a:pt x="21" y="68"/>
                    <a:pt x="25" y="67"/>
                  </a:cubicBezTo>
                  <a:cubicBezTo>
                    <a:pt x="30" y="66"/>
                    <a:pt x="28" y="61"/>
                    <a:pt x="27" y="58"/>
                  </a:cubicBezTo>
                  <a:cubicBezTo>
                    <a:pt x="27" y="55"/>
                    <a:pt x="21" y="33"/>
                    <a:pt x="19" y="30"/>
                  </a:cubicBezTo>
                  <a:cubicBezTo>
                    <a:pt x="18" y="27"/>
                    <a:pt x="15" y="18"/>
                    <a:pt x="14" y="15"/>
                  </a:cubicBezTo>
                  <a:cubicBezTo>
                    <a:pt x="14" y="12"/>
                    <a:pt x="14" y="9"/>
                    <a:pt x="11" y="6"/>
                  </a:cubicBezTo>
                  <a:cubicBezTo>
                    <a:pt x="9" y="4"/>
                    <a:pt x="7" y="0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" name="íśḷïḓê"/>
            <p:cNvSpPr/>
            <p:nvPr/>
          </p:nvSpPr>
          <p:spPr bwMode="auto">
            <a:xfrm>
              <a:off x="2608263" y="2376488"/>
              <a:ext cx="69850" cy="128588"/>
            </a:xfrm>
            <a:custGeom>
              <a:avLst/>
              <a:gdLst>
                <a:gd name="T0" fmla="*/ 4 w 21"/>
                <a:gd name="T1" fmla="*/ 1 h 39"/>
                <a:gd name="T2" fmla="*/ 0 w 21"/>
                <a:gd name="T3" fmla="*/ 5 h 39"/>
                <a:gd name="T4" fmla="*/ 4 w 21"/>
                <a:gd name="T5" fmla="*/ 13 h 39"/>
                <a:gd name="T6" fmla="*/ 9 w 21"/>
                <a:gd name="T7" fmla="*/ 19 h 39"/>
                <a:gd name="T8" fmla="*/ 17 w 21"/>
                <a:gd name="T9" fmla="*/ 38 h 39"/>
                <a:gd name="T10" fmla="*/ 21 w 21"/>
                <a:gd name="T11" fmla="*/ 32 h 39"/>
                <a:gd name="T12" fmla="*/ 19 w 21"/>
                <a:gd name="T13" fmla="*/ 21 h 39"/>
                <a:gd name="T14" fmla="*/ 16 w 21"/>
                <a:gd name="T15" fmla="*/ 14 h 39"/>
                <a:gd name="T16" fmla="*/ 11 w 21"/>
                <a:gd name="T17" fmla="*/ 3 h 39"/>
                <a:gd name="T18" fmla="*/ 4 w 21"/>
                <a:gd name="T1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39">
                  <a:moveTo>
                    <a:pt x="4" y="1"/>
                  </a:moveTo>
                  <a:cubicBezTo>
                    <a:pt x="2" y="2"/>
                    <a:pt x="0" y="2"/>
                    <a:pt x="0" y="5"/>
                  </a:cubicBezTo>
                  <a:cubicBezTo>
                    <a:pt x="0" y="8"/>
                    <a:pt x="3" y="11"/>
                    <a:pt x="4" y="13"/>
                  </a:cubicBezTo>
                  <a:cubicBezTo>
                    <a:pt x="6" y="15"/>
                    <a:pt x="8" y="17"/>
                    <a:pt x="9" y="19"/>
                  </a:cubicBezTo>
                  <a:cubicBezTo>
                    <a:pt x="9" y="22"/>
                    <a:pt x="15" y="37"/>
                    <a:pt x="17" y="38"/>
                  </a:cubicBezTo>
                  <a:cubicBezTo>
                    <a:pt x="19" y="39"/>
                    <a:pt x="21" y="36"/>
                    <a:pt x="21" y="32"/>
                  </a:cubicBezTo>
                  <a:cubicBezTo>
                    <a:pt x="21" y="28"/>
                    <a:pt x="20" y="23"/>
                    <a:pt x="19" y="21"/>
                  </a:cubicBezTo>
                  <a:cubicBezTo>
                    <a:pt x="17" y="20"/>
                    <a:pt x="16" y="17"/>
                    <a:pt x="16" y="14"/>
                  </a:cubicBezTo>
                  <a:cubicBezTo>
                    <a:pt x="16" y="10"/>
                    <a:pt x="13" y="6"/>
                    <a:pt x="11" y="3"/>
                  </a:cubicBezTo>
                  <a:cubicBezTo>
                    <a:pt x="8" y="0"/>
                    <a:pt x="5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îṧļîḓè"/>
            <p:cNvSpPr/>
            <p:nvPr/>
          </p:nvSpPr>
          <p:spPr bwMode="auto">
            <a:xfrm>
              <a:off x="2644776" y="2263775"/>
              <a:ext cx="155575" cy="300038"/>
            </a:xfrm>
            <a:custGeom>
              <a:avLst/>
              <a:gdLst>
                <a:gd name="T0" fmla="*/ 7 w 47"/>
                <a:gd name="T1" fmla="*/ 0 h 91"/>
                <a:gd name="T2" fmla="*/ 1 w 47"/>
                <a:gd name="T3" fmla="*/ 3 h 91"/>
                <a:gd name="T4" fmla="*/ 4 w 47"/>
                <a:gd name="T5" fmla="*/ 10 h 91"/>
                <a:gd name="T6" fmla="*/ 8 w 47"/>
                <a:gd name="T7" fmla="*/ 18 h 91"/>
                <a:gd name="T8" fmla="*/ 20 w 47"/>
                <a:gd name="T9" fmla="*/ 45 h 91"/>
                <a:gd name="T10" fmla="*/ 29 w 47"/>
                <a:gd name="T11" fmla="*/ 67 h 91"/>
                <a:gd name="T12" fmla="*/ 41 w 47"/>
                <a:gd name="T13" fmla="*/ 89 h 91"/>
                <a:gd name="T14" fmla="*/ 44 w 47"/>
                <a:gd name="T15" fmla="*/ 81 h 91"/>
                <a:gd name="T16" fmla="*/ 38 w 47"/>
                <a:gd name="T17" fmla="*/ 73 h 91"/>
                <a:gd name="T18" fmla="*/ 20 w 47"/>
                <a:gd name="T19" fmla="*/ 32 h 91"/>
                <a:gd name="T20" fmla="*/ 16 w 47"/>
                <a:gd name="T21" fmla="*/ 16 h 91"/>
                <a:gd name="T22" fmla="*/ 16 w 47"/>
                <a:gd name="T23" fmla="*/ 5 h 91"/>
                <a:gd name="T24" fmla="*/ 7 w 47"/>
                <a:gd name="T2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91">
                  <a:moveTo>
                    <a:pt x="7" y="0"/>
                  </a:moveTo>
                  <a:cubicBezTo>
                    <a:pt x="5" y="0"/>
                    <a:pt x="2" y="1"/>
                    <a:pt x="1" y="3"/>
                  </a:cubicBezTo>
                  <a:cubicBezTo>
                    <a:pt x="0" y="5"/>
                    <a:pt x="1" y="8"/>
                    <a:pt x="4" y="10"/>
                  </a:cubicBezTo>
                  <a:cubicBezTo>
                    <a:pt x="6" y="13"/>
                    <a:pt x="8" y="16"/>
                    <a:pt x="8" y="18"/>
                  </a:cubicBezTo>
                  <a:cubicBezTo>
                    <a:pt x="9" y="20"/>
                    <a:pt x="18" y="40"/>
                    <a:pt x="20" y="45"/>
                  </a:cubicBezTo>
                  <a:cubicBezTo>
                    <a:pt x="22" y="50"/>
                    <a:pt x="26" y="61"/>
                    <a:pt x="29" y="67"/>
                  </a:cubicBezTo>
                  <a:cubicBezTo>
                    <a:pt x="32" y="74"/>
                    <a:pt x="37" y="86"/>
                    <a:pt x="41" y="89"/>
                  </a:cubicBezTo>
                  <a:cubicBezTo>
                    <a:pt x="45" y="91"/>
                    <a:pt x="47" y="84"/>
                    <a:pt x="44" y="81"/>
                  </a:cubicBezTo>
                  <a:cubicBezTo>
                    <a:pt x="42" y="78"/>
                    <a:pt x="42" y="79"/>
                    <a:pt x="38" y="73"/>
                  </a:cubicBezTo>
                  <a:cubicBezTo>
                    <a:pt x="35" y="67"/>
                    <a:pt x="21" y="34"/>
                    <a:pt x="20" y="32"/>
                  </a:cubicBezTo>
                  <a:cubicBezTo>
                    <a:pt x="19" y="29"/>
                    <a:pt x="16" y="19"/>
                    <a:pt x="16" y="16"/>
                  </a:cubicBezTo>
                  <a:cubicBezTo>
                    <a:pt x="16" y="12"/>
                    <a:pt x="18" y="8"/>
                    <a:pt x="16" y="5"/>
                  </a:cubicBezTo>
                  <a:cubicBezTo>
                    <a:pt x="15" y="2"/>
                    <a:pt x="8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íṣľîḑê"/>
            <p:cNvSpPr/>
            <p:nvPr/>
          </p:nvSpPr>
          <p:spPr bwMode="auto">
            <a:xfrm>
              <a:off x="3508376" y="2495550"/>
              <a:ext cx="69850" cy="111125"/>
            </a:xfrm>
            <a:custGeom>
              <a:avLst/>
              <a:gdLst>
                <a:gd name="T0" fmla="*/ 0 w 21"/>
                <a:gd name="T1" fmla="*/ 11 h 34"/>
                <a:gd name="T2" fmla="*/ 12 w 21"/>
                <a:gd name="T3" fmla="*/ 33 h 34"/>
                <a:gd name="T4" fmla="*/ 19 w 21"/>
                <a:gd name="T5" fmla="*/ 21 h 34"/>
                <a:gd name="T6" fmla="*/ 6 w 21"/>
                <a:gd name="T7" fmla="*/ 5 h 34"/>
                <a:gd name="T8" fmla="*/ 0 w 21"/>
                <a:gd name="T9" fmla="*/ 1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34">
                  <a:moveTo>
                    <a:pt x="0" y="11"/>
                  </a:moveTo>
                  <a:cubicBezTo>
                    <a:pt x="1" y="16"/>
                    <a:pt x="3" y="32"/>
                    <a:pt x="12" y="33"/>
                  </a:cubicBezTo>
                  <a:cubicBezTo>
                    <a:pt x="20" y="34"/>
                    <a:pt x="21" y="24"/>
                    <a:pt x="19" y="21"/>
                  </a:cubicBezTo>
                  <a:cubicBezTo>
                    <a:pt x="17" y="17"/>
                    <a:pt x="6" y="5"/>
                    <a:pt x="6" y="5"/>
                  </a:cubicBezTo>
                  <a:cubicBezTo>
                    <a:pt x="1" y="0"/>
                    <a:pt x="0" y="7"/>
                    <a:pt x="0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iS1îdè"/>
            <p:cNvSpPr/>
            <p:nvPr/>
          </p:nvSpPr>
          <p:spPr bwMode="auto">
            <a:xfrm>
              <a:off x="3967163" y="2887663"/>
              <a:ext cx="274638" cy="192088"/>
            </a:xfrm>
            <a:custGeom>
              <a:avLst/>
              <a:gdLst>
                <a:gd name="T0" fmla="*/ 50 w 83"/>
                <a:gd name="T1" fmla="*/ 1 h 58"/>
                <a:gd name="T2" fmla="*/ 47 w 83"/>
                <a:gd name="T3" fmla="*/ 4 h 58"/>
                <a:gd name="T4" fmla="*/ 44 w 83"/>
                <a:gd name="T5" fmla="*/ 8 h 58"/>
                <a:gd name="T6" fmla="*/ 35 w 83"/>
                <a:gd name="T7" fmla="*/ 10 h 58"/>
                <a:gd name="T8" fmla="*/ 29 w 83"/>
                <a:gd name="T9" fmla="*/ 12 h 58"/>
                <a:gd name="T10" fmla="*/ 25 w 83"/>
                <a:gd name="T11" fmla="*/ 16 h 58"/>
                <a:gd name="T12" fmla="*/ 27 w 83"/>
                <a:gd name="T13" fmla="*/ 18 h 58"/>
                <a:gd name="T14" fmla="*/ 29 w 83"/>
                <a:gd name="T15" fmla="*/ 20 h 58"/>
                <a:gd name="T16" fmla="*/ 28 w 83"/>
                <a:gd name="T17" fmla="*/ 23 h 58"/>
                <a:gd name="T18" fmla="*/ 25 w 83"/>
                <a:gd name="T19" fmla="*/ 21 h 58"/>
                <a:gd name="T20" fmla="*/ 12 w 83"/>
                <a:gd name="T21" fmla="*/ 8 h 58"/>
                <a:gd name="T22" fmla="*/ 8 w 83"/>
                <a:gd name="T23" fmla="*/ 3 h 58"/>
                <a:gd name="T24" fmla="*/ 5 w 83"/>
                <a:gd name="T25" fmla="*/ 0 h 58"/>
                <a:gd name="T26" fmla="*/ 0 w 83"/>
                <a:gd name="T27" fmla="*/ 3 h 58"/>
                <a:gd name="T28" fmla="*/ 2 w 83"/>
                <a:gd name="T29" fmla="*/ 10 h 58"/>
                <a:gd name="T30" fmla="*/ 13 w 83"/>
                <a:gd name="T31" fmla="*/ 17 h 58"/>
                <a:gd name="T32" fmla="*/ 25 w 83"/>
                <a:gd name="T33" fmla="*/ 27 h 58"/>
                <a:gd name="T34" fmla="*/ 37 w 83"/>
                <a:gd name="T35" fmla="*/ 42 h 58"/>
                <a:gd name="T36" fmla="*/ 35 w 83"/>
                <a:gd name="T37" fmla="*/ 47 h 58"/>
                <a:gd name="T38" fmla="*/ 30 w 83"/>
                <a:gd name="T39" fmla="*/ 44 h 58"/>
                <a:gd name="T40" fmla="*/ 28 w 83"/>
                <a:gd name="T41" fmla="*/ 44 h 58"/>
                <a:gd name="T42" fmla="*/ 31 w 83"/>
                <a:gd name="T43" fmla="*/ 49 h 58"/>
                <a:gd name="T44" fmla="*/ 36 w 83"/>
                <a:gd name="T45" fmla="*/ 58 h 58"/>
                <a:gd name="T46" fmla="*/ 43 w 83"/>
                <a:gd name="T47" fmla="*/ 48 h 58"/>
                <a:gd name="T48" fmla="*/ 38 w 83"/>
                <a:gd name="T49" fmla="*/ 37 h 58"/>
                <a:gd name="T50" fmla="*/ 40 w 83"/>
                <a:gd name="T51" fmla="*/ 35 h 58"/>
                <a:gd name="T52" fmla="*/ 49 w 83"/>
                <a:gd name="T53" fmla="*/ 38 h 58"/>
                <a:gd name="T54" fmla="*/ 55 w 83"/>
                <a:gd name="T55" fmla="*/ 38 h 58"/>
                <a:gd name="T56" fmla="*/ 59 w 83"/>
                <a:gd name="T57" fmla="*/ 32 h 58"/>
                <a:gd name="T58" fmla="*/ 64 w 83"/>
                <a:gd name="T59" fmla="*/ 33 h 58"/>
                <a:gd name="T60" fmla="*/ 71 w 83"/>
                <a:gd name="T61" fmla="*/ 36 h 58"/>
                <a:gd name="T62" fmla="*/ 72 w 83"/>
                <a:gd name="T63" fmla="*/ 30 h 58"/>
                <a:gd name="T64" fmla="*/ 76 w 83"/>
                <a:gd name="T65" fmla="*/ 29 h 58"/>
                <a:gd name="T66" fmla="*/ 79 w 83"/>
                <a:gd name="T67" fmla="*/ 31 h 58"/>
                <a:gd name="T68" fmla="*/ 82 w 83"/>
                <a:gd name="T69" fmla="*/ 27 h 58"/>
                <a:gd name="T70" fmla="*/ 81 w 83"/>
                <a:gd name="T71" fmla="*/ 22 h 58"/>
                <a:gd name="T72" fmla="*/ 75 w 83"/>
                <a:gd name="T73" fmla="*/ 24 h 58"/>
                <a:gd name="T74" fmla="*/ 71 w 83"/>
                <a:gd name="T75" fmla="*/ 26 h 58"/>
                <a:gd name="T76" fmla="*/ 69 w 83"/>
                <a:gd name="T77" fmla="*/ 27 h 58"/>
                <a:gd name="T78" fmla="*/ 65 w 83"/>
                <a:gd name="T79" fmla="*/ 26 h 58"/>
                <a:gd name="T80" fmla="*/ 61 w 83"/>
                <a:gd name="T81" fmla="*/ 23 h 58"/>
                <a:gd name="T82" fmla="*/ 56 w 83"/>
                <a:gd name="T83" fmla="*/ 25 h 58"/>
                <a:gd name="T84" fmla="*/ 54 w 83"/>
                <a:gd name="T85" fmla="*/ 28 h 58"/>
                <a:gd name="T86" fmla="*/ 42 w 83"/>
                <a:gd name="T87" fmla="*/ 28 h 58"/>
                <a:gd name="T88" fmla="*/ 41 w 83"/>
                <a:gd name="T89" fmla="*/ 31 h 58"/>
                <a:gd name="T90" fmla="*/ 36 w 83"/>
                <a:gd name="T91" fmla="*/ 32 h 58"/>
                <a:gd name="T92" fmla="*/ 32 w 83"/>
                <a:gd name="T93" fmla="*/ 28 h 58"/>
                <a:gd name="T94" fmla="*/ 34 w 83"/>
                <a:gd name="T95" fmla="*/ 25 h 58"/>
                <a:gd name="T96" fmla="*/ 43 w 83"/>
                <a:gd name="T97" fmla="*/ 24 h 58"/>
                <a:gd name="T98" fmla="*/ 46 w 83"/>
                <a:gd name="T99" fmla="*/ 23 h 58"/>
                <a:gd name="T100" fmla="*/ 47 w 83"/>
                <a:gd name="T101" fmla="*/ 20 h 58"/>
                <a:gd name="T102" fmla="*/ 47 w 83"/>
                <a:gd name="T103" fmla="*/ 18 h 58"/>
                <a:gd name="T104" fmla="*/ 63 w 83"/>
                <a:gd name="T105" fmla="*/ 17 h 58"/>
                <a:gd name="T106" fmla="*/ 68 w 83"/>
                <a:gd name="T107" fmla="*/ 13 h 58"/>
                <a:gd name="T108" fmla="*/ 63 w 83"/>
                <a:gd name="T109" fmla="*/ 8 h 58"/>
                <a:gd name="T110" fmla="*/ 58 w 83"/>
                <a:gd name="T111" fmla="*/ 13 h 58"/>
                <a:gd name="T112" fmla="*/ 49 w 83"/>
                <a:gd name="T113" fmla="*/ 16 h 58"/>
                <a:gd name="T114" fmla="*/ 42 w 83"/>
                <a:gd name="T115" fmla="*/ 17 h 58"/>
                <a:gd name="T116" fmla="*/ 40 w 83"/>
                <a:gd name="T117" fmla="*/ 13 h 58"/>
                <a:gd name="T118" fmla="*/ 51 w 83"/>
                <a:gd name="T119" fmla="*/ 10 h 58"/>
                <a:gd name="T120" fmla="*/ 54 w 83"/>
                <a:gd name="T121" fmla="*/ 2 h 58"/>
                <a:gd name="T122" fmla="*/ 50 w 83"/>
                <a:gd name="T123" fmla="*/ 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3" h="58">
                  <a:moveTo>
                    <a:pt x="50" y="1"/>
                  </a:moveTo>
                  <a:cubicBezTo>
                    <a:pt x="50" y="1"/>
                    <a:pt x="48" y="3"/>
                    <a:pt x="47" y="4"/>
                  </a:cubicBezTo>
                  <a:cubicBezTo>
                    <a:pt x="47" y="5"/>
                    <a:pt x="45" y="8"/>
                    <a:pt x="44" y="8"/>
                  </a:cubicBezTo>
                  <a:cubicBezTo>
                    <a:pt x="43" y="8"/>
                    <a:pt x="37" y="10"/>
                    <a:pt x="35" y="10"/>
                  </a:cubicBezTo>
                  <a:cubicBezTo>
                    <a:pt x="34" y="10"/>
                    <a:pt x="29" y="11"/>
                    <a:pt x="29" y="12"/>
                  </a:cubicBezTo>
                  <a:cubicBezTo>
                    <a:pt x="28" y="14"/>
                    <a:pt x="25" y="16"/>
                    <a:pt x="25" y="16"/>
                  </a:cubicBezTo>
                  <a:cubicBezTo>
                    <a:pt x="25" y="16"/>
                    <a:pt x="25" y="18"/>
                    <a:pt x="27" y="18"/>
                  </a:cubicBezTo>
                  <a:cubicBezTo>
                    <a:pt x="29" y="18"/>
                    <a:pt x="29" y="20"/>
                    <a:pt x="29" y="20"/>
                  </a:cubicBezTo>
                  <a:cubicBezTo>
                    <a:pt x="29" y="20"/>
                    <a:pt x="29" y="24"/>
                    <a:pt x="28" y="23"/>
                  </a:cubicBezTo>
                  <a:cubicBezTo>
                    <a:pt x="27" y="22"/>
                    <a:pt x="27" y="23"/>
                    <a:pt x="25" y="21"/>
                  </a:cubicBezTo>
                  <a:cubicBezTo>
                    <a:pt x="24" y="20"/>
                    <a:pt x="12" y="8"/>
                    <a:pt x="12" y="8"/>
                  </a:cubicBezTo>
                  <a:cubicBezTo>
                    <a:pt x="12" y="8"/>
                    <a:pt x="9" y="4"/>
                    <a:pt x="8" y="3"/>
                  </a:cubicBezTo>
                  <a:cubicBezTo>
                    <a:pt x="8" y="2"/>
                    <a:pt x="7" y="0"/>
                    <a:pt x="5" y="0"/>
                  </a:cubicBezTo>
                  <a:cubicBezTo>
                    <a:pt x="3" y="0"/>
                    <a:pt x="1" y="1"/>
                    <a:pt x="0" y="3"/>
                  </a:cubicBezTo>
                  <a:cubicBezTo>
                    <a:pt x="0" y="4"/>
                    <a:pt x="0" y="7"/>
                    <a:pt x="2" y="10"/>
                  </a:cubicBezTo>
                  <a:cubicBezTo>
                    <a:pt x="5" y="13"/>
                    <a:pt x="10" y="15"/>
                    <a:pt x="13" y="17"/>
                  </a:cubicBezTo>
                  <a:cubicBezTo>
                    <a:pt x="18" y="20"/>
                    <a:pt x="22" y="24"/>
                    <a:pt x="25" y="27"/>
                  </a:cubicBezTo>
                  <a:cubicBezTo>
                    <a:pt x="28" y="31"/>
                    <a:pt x="35" y="38"/>
                    <a:pt x="37" y="42"/>
                  </a:cubicBezTo>
                  <a:cubicBezTo>
                    <a:pt x="38" y="46"/>
                    <a:pt x="37" y="47"/>
                    <a:pt x="35" y="47"/>
                  </a:cubicBezTo>
                  <a:cubicBezTo>
                    <a:pt x="34" y="47"/>
                    <a:pt x="31" y="45"/>
                    <a:pt x="30" y="44"/>
                  </a:cubicBezTo>
                  <a:cubicBezTo>
                    <a:pt x="29" y="43"/>
                    <a:pt x="28" y="44"/>
                    <a:pt x="28" y="44"/>
                  </a:cubicBezTo>
                  <a:cubicBezTo>
                    <a:pt x="28" y="44"/>
                    <a:pt x="28" y="45"/>
                    <a:pt x="31" y="49"/>
                  </a:cubicBezTo>
                  <a:cubicBezTo>
                    <a:pt x="33" y="52"/>
                    <a:pt x="34" y="57"/>
                    <a:pt x="36" y="58"/>
                  </a:cubicBezTo>
                  <a:cubicBezTo>
                    <a:pt x="37" y="58"/>
                    <a:pt x="45" y="53"/>
                    <a:pt x="43" y="48"/>
                  </a:cubicBezTo>
                  <a:cubicBezTo>
                    <a:pt x="42" y="43"/>
                    <a:pt x="39" y="38"/>
                    <a:pt x="38" y="37"/>
                  </a:cubicBezTo>
                  <a:cubicBezTo>
                    <a:pt x="37" y="36"/>
                    <a:pt x="38" y="34"/>
                    <a:pt x="40" y="35"/>
                  </a:cubicBezTo>
                  <a:cubicBezTo>
                    <a:pt x="42" y="36"/>
                    <a:pt x="45" y="38"/>
                    <a:pt x="49" y="38"/>
                  </a:cubicBezTo>
                  <a:cubicBezTo>
                    <a:pt x="53" y="38"/>
                    <a:pt x="54" y="39"/>
                    <a:pt x="55" y="38"/>
                  </a:cubicBezTo>
                  <a:cubicBezTo>
                    <a:pt x="57" y="36"/>
                    <a:pt x="59" y="33"/>
                    <a:pt x="59" y="32"/>
                  </a:cubicBezTo>
                  <a:cubicBezTo>
                    <a:pt x="60" y="31"/>
                    <a:pt x="62" y="31"/>
                    <a:pt x="64" y="33"/>
                  </a:cubicBezTo>
                  <a:cubicBezTo>
                    <a:pt x="66" y="36"/>
                    <a:pt x="69" y="38"/>
                    <a:pt x="71" y="36"/>
                  </a:cubicBezTo>
                  <a:cubicBezTo>
                    <a:pt x="72" y="33"/>
                    <a:pt x="70" y="30"/>
                    <a:pt x="72" y="30"/>
                  </a:cubicBezTo>
                  <a:cubicBezTo>
                    <a:pt x="74" y="29"/>
                    <a:pt x="75" y="27"/>
                    <a:pt x="76" y="29"/>
                  </a:cubicBezTo>
                  <a:cubicBezTo>
                    <a:pt x="77" y="30"/>
                    <a:pt x="78" y="32"/>
                    <a:pt x="79" y="31"/>
                  </a:cubicBezTo>
                  <a:cubicBezTo>
                    <a:pt x="79" y="30"/>
                    <a:pt x="81" y="29"/>
                    <a:pt x="82" y="27"/>
                  </a:cubicBezTo>
                  <a:cubicBezTo>
                    <a:pt x="83" y="25"/>
                    <a:pt x="82" y="22"/>
                    <a:pt x="81" y="22"/>
                  </a:cubicBezTo>
                  <a:cubicBezTo>
                    <a:pt x="79" y="23"/>
                    <a:pt x="76" y="23"/>
                    <a:pt x="75" y="24"/>
                  </a:cubicBezTo>
                  <a:cubicBezTo>
                    <a:pt x="74" y="24"/>
                    <a:pt x="72" y="24"/>
                    <a:pt x="71" y="26"/>
                  </a:cubicBezTo>
                  <a:cubicBezTo>
                    <a:pt x="70" y="27"/>
                    <a:pt x="70" y="27"/>
                    <a:pt x="69" y="27"/>
                  </a:cubicBezTo>
                  <a:cubicBezTo>
                    <a:pt x="68" y="27"/>
                    <a:pt x="66" y="28"/>
                    <a:pt x="65" y="26"/>
                  </a:cubicBezTo>
                  <a:cubicBezTo>
                    <a:pt x="63" y="25"/>
                    <a:pt x="63" y="23"/>
                    <a:pt x="61" y="23"/>
                  </a:cubicBezTo>
                  <a:cubicBezTo>
                    <a:pt x="60" y="23"/>
                    <a:pt x="56" y="24"/>
                    <a:pt x="56" y="25"/>
                  </a:cubicBezTo>
                  <a:cubicBezTo>
                    <a:pt x="55" y="26"/>
                    <a:pt x="57" y="28"/>
                    <a:pt x="54" y="28"/>
                  </a:cubicBezTo>
                  <a:cubicBezTo>
                    <a:pt x="51" y="28"/>
                    <a:pt x="43" y="27"/>
                    <a:pt x="42" y="28"/>
                  </a:cubicBezTo>
                  <a:cubicBezTo>
                    <a:pt x="41" y="28"/>
                    <a:pt x="42" y="30"/>
                    <a:pt x="41" y="31"/>
                  </a:cubicBezTo>
                  <a:cubicBezTo>
                    <a:pt x="39" y="31"/>
                    <a:pt x="37" y="33"/>
                    <a:pt x="36" y="32"/>
                  </a:cubicBezTo>
                  <a:cubicBezTo>
                    <a:pt x="35" y="31"/>
                    <a:pt x="32" y="28"/>
                    <a:pt x="32" y="28"/>
                  </a:cubicBezTo>
                  <a:cubicBezTo>
                    <a:pt x="32" y="28"/>
                    <a:pt x="30" y="25"/>
                    <a:pt x="34" y="25"/>
                  </a:cubicBezTo>
                  <a:cubicBezTo>
                    <a:pt x="37" y="25"/>
                    <a:pt x="42" y="24"/>
                    <a:pt x="43" y="24"/>
                  </a:cubicBezTo>
                  <a:cubicBezTo>
                    <a:pt x="44" y="24"/>
                    <a:pt x="46" y="24"/>
                    <a:pt x="46" y="23"/>
                  </a:cubicBezTo>
                  <a:cubicBezTo>
                    <a:pt x="45" y="21"/>
                    <a:pt x="48" y="22"/>
                    <a:pt x="47" y="20"/>
                  </a:cubicBezTo>
                  <a:cubicBezTo>
                    <a:pt x="46" y="19"/>
                    <a:pt x="45" y="18"/>
                    <a:pt x="47" y="18"/>
                  </a:cubicBezTo>
                  <a:cubicBezTo>
                    <a:pt x="50" y="17"/>
                    <a:pt x="58" y="18"/>
                    <a:pt x="63" y="17"/>
                  </a:cubicBezTo>
                  <a:cubicBezTo>
                    <a:pt x="67" y="16"/>
                    <a:pt x="67" y="14"/>
                    <a:pt x="68" y="13"/>
                  </a:cubicBezTo>
                  <a:cubicBezTo>
                    <a:pt x="68" y="11"/>
                    <a:pt x="65" y="8"/>
                    <a:pt x="63" y="8"/>
                  </a:cubicBezTo>
                  <a:cubicBezTo>
                    <a:pt x="62" y="9"/>
                    <a:pt x="60" y="12"/>
                    <a:pt x="58" y="13"/>
                  </a:cubicBezTo>
                  <a:cubicBezTo>
                    <a:pt x="56" y="13"/>
                    <a:pt x="49" y="15"/>
                    <a:pt x="49" y="16"/>
                  </a:cubicBezTo>
                  <a:cubicBezTo>
                    <a:pt x="48" y="16"/>
                    <a:pt x="43" y="17"/>
                    <a:pt x="42" y="17"/>
                  </a:cubicBezTo>
                  <a:cubicBezTo>
                    <a:pt x="41" y="17"/>
                    <a:pt x="36" y="13"/>
                    <a:pt x="40" y="13"/>
                  </a:cubicBezTo>
                  <a:cubicBezTo>
                    <a:pt x="44" y="12"/>
                    <a:pt x="49" y="11"/>
                    <a:pt x="51" y="10"/>
                  </a:cubicBezTo>
                  <a:cubicBezTo>
                    <a:pt x="53" y="8"/>
                    <a:pt x="55" y="3"/>
                    <a:pt x="54" y="2"/>
                  </a:cubicBezTo>
                  <a:cubicBezTo>
                    <a:pt x="54" y="1"/>
                    <a:pt x="51" y="0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îŝḻiḓe"/>
            <p:cNvSpPr/>
            <p:nvPr/>
          </p:nvSpPr>
          <p:spPr bwMode="auto">
            <a:xfrm>
              <a:off x="3890963" y="2951163"/>
              <a:ext cx="161925" cy="125413"/>
            </a:xfrm>
            <a:custGeom>
              <a:avLst/>
              <a:gdLst>
                <a:gd name="T0" fmla="*/ 36 w 49"/>
                <a:gd name="T1" fmla="*/ 5 h 38"/>
                <a:gd name="T2" fmla="*/ 33 w 49"/>
                <a:gd name="T3" fmla="*/ 9 h 38"/>
                <a:gd name="T4" fmla="*/ 37 w 49"/>
                <a:gd name="T5" fmla="*/ 14 h 38"/>
                <a:gd name="T6" fmla="*/ 30 w 49"/>
                <a:gd name="T7" fmla="*/ 18 h 38"/>
                <a:gd name="T8" fmla="*/ 22 w 49"/>
                <a:gd name="T9" fmla="*/ 9 h 38"/>
                <a:gd name="T10" fmla="*/ 16 w 49"/>
                <a:gd name="T11" fmla="*/ 2 h 38"/>
                <a:gd name="T12" fmla="*/ 13 w 49"/>
                <a:gd name="T13" fmla="*/ 10 h 38"/>
                <a:gd name="T14" fmla="*/ 20 w 49"/>
                <a:gd name="T15" fmla="*/ 16 h 38"/>
                <a:gd name="T16" fmla="*/ 25 w 49"/>
                <a:gd name="T17" fmla="*/ 22 h 38"/>
                <a:gd name="T18" fmla="*/ 21 w 49"/>
                <a:gd name="T19" fmla="*/ 26 h 38"/>
                <a:gd name="T20" fmla="*/ 10 w 49"/>
                <a:gd name="T21" fmla="*/ 26 h 38"/>
                <a:gd name="T22" fmla="*/ 8 w 49"/>
                <a:gd name="T23" fmla="*/ 19 h 38"/>
                <a:gd name="T24" fmla="*/ 6 w 49"/>
                <a:gd name="T25" fmla="*/ 13 h 38"/>
                <a:gd name="T26" fmla="*/ 3 w 49"/>
                <a:gd name="T27" fmla="*/ 18 h 38"/>
                <a:gd name="T28" fmla="*/ 2 w 49"/>
                <a:gd name="T29" fmla="*/ 26 h 38"/>
                <a:gd name="T30" fmla="*/ 14 w 49"/>
                <a:gd name="T31" fmla="*/ 30 h 38"/>
                <a:gd name="T32" fmla="*/ 23 w 49"/>
                <a:gd name="T33" fmla="*/ 29 h 38"/>
                <a:gd name="T34" fmla="*/ 28 w 49"/>
                <a:gd name="T35" fmla="*/ 29 h 38"/>
                <a:gd name="T36" fmla="*/ 32 w 49"/>
                <a:gd name="T37" fmla="*/ 37 h 38"/>
                <a:gd name="T38" fmla="*/ 38 w 49"/>
                <a:gd name="T39" fmla="*/ 33 h 38"/>
                <a:gd name="T40" fmla="*/ 34 w 49"/>
                <a:gd name="T41" fmla="*/ 24 h 38"/>
                <a:gd name="T42" fmla="*/ 35 w 49"/>
                <a:gd name="T43" fmla="*/ 20 h 38"/>
                <a:gd name="T44" fmla="*/ 42 w 49"/>
                <a:gd name="T45" fmla="*/ 22 h 38"/>
                <a:gd name="T46" fmla="*/ 48 w 49"/>
                <a:gd name="T47" fmla="*/ 18 h 38"/>
                <a:gd name="T48" fmla="*/ 41 w 49"/>
                <a:gd name="T49" fmla="*/ 8 h 38"/>
                <a:gd name="T50" fmla="*/ 36 w 49"/>
                <a:gd name="T51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9" h="38">
                  <a:moveTo>
                    <a:pt x="36" y="5"/>
                  </a:moveTo>
                  <a:cubicBezTo>
                    <a:pt x="34" y="6"/>
                    <a:pt x="32" y="8"/>
                    <a:pt x="33" y="9"/>
                  </a:cubicBezTo>
                  <a:cubicBezTo>
                    <a:pt x="33" y="11"/>
                    <a:pt x="37" y="12"/>
                    <a:pt x="37" y="14"/>
                  </a:cubicBezTo>
                  <a:cubicBezTo>
                    <a:pt x="38" y="17"/>
                    <a:pt x="32" y="18"/>
                    <a:pt x="30" y="18"/>
                  </a:cubicBezTo>
                  <a:cubicBezTo>
                    <a:pt x="30" y="18"/>
                    <a:pt x="23" y="11"/>
                    <a:pt x="22" y="9"/>
                  </a:cubicBezTo>
                  <a:cubicBezTo>
                    <a:pt x="21" y="8"/>
                    <a:pt x="19" y="0"/>
                    <a:pt x="16" y="2"/>
                  </a:cubicBezTo>
                  <a:cubicBezTo>
                    <a:pt x="14" y="3"/>
                    <a:pt x="12" y="7"/>
                    <a:pt x="13" y="10"/>
                  </a:cubicBezTo>
                  <a:cubicBezTo>
                    <a:pt x="15" y="12"/>
                    <a:pt x="17" y="13"/>
                    <a:pt x="20" y="16"/>
                  </a:cubicBezTo>
                  <a:cubicBezTo>
                    <a:pt x="22" y="18"/>
                    <a:pt x="25" y="21"/>
                    <a:pt x="25" y="22"/>
                  </a:cubicBezTo>
                  <a:cubicBezTo>
                    <a:pt x="25" y="23"/>
                    <a:pt x="23" y="25"/>
                    <a:pt x="21" y="26"/>
                  </a:cubicBezTo>
                  <a:cubicBezTo>
                    <a:pt x="18" y="27"/>
                    <a:pt x="11" y="27"/>
                    <a:pt x="10" y="26"/>
                  </a:cubicBezTo>
                  <a:cubicBezTo>
                    <a:pt x="9" y="24"/>
                    <a:pt x="8" y="21"/>
                    <a:pt x="8" y="19"/>
                  </a:cubicBezTo>
                  <a:cubicBezTo>
                    <a:pt x="9" y="16"/>
                    <a:pt x="9" y="11"/>
                    <a:pt x="6" y="13"/>
                  </a:cubicBezTo>
                  <a:cubicBezTo>
                    <a:pt x="4" y="14"/>
                    <a:pt x="5" y="16"/>
                    <a:pt x="3" y="18"/>
                  </a:cubicBezTo>
                  <a:cubicBezTo>
                    <a:pt x="1" y="19"/>
                    <a:pt x="0" y="24"/>
                    <a:pt x="2" y="26"/>
                  </a:cubicBezTo>
                  <a:cubicBezTo>
                    <a:pt x="4" y="28"/>
                    <a:pt x="8" y="30"/>
                    <a:pt x="14" y="30"/>
                  </a:cubicBezTo>
                  <a:cubicBezTo>
                    <a:pt x="19" y="30"/>
                    <a:pt x="22" y="29"/>
                    <a:pt x="23" y="29"/>
                  </a:cubicBezTo>
                  <a:cubicBezTo>
                    <a:pt x="25" y="29"/>
                    <a:pt x="28" y="27"/>
                    <a:pt x="28" y="29"/>
                  </a:cubicBezTo>
                  <a:cubicBezTo>
                    <a:pt x="28" y="30"/>
                    <a:pt x="29" y="38"/>
                    <a:pt x="32" y="37"/>
                  </a:cubicBezTo>
                  <a:cubicBezTo>
                    <a:pt x="35" y="37"/>
                    <a:pt x="39" y="35"/>
                    <a:pt x="38" y="33"/>
                  </a:cubicBezTo>
                  <a:cubicBezTo>
                    <a:pt x="38" y="30"/>
                    <a:pt x="34" y="24"/>
                    <a:pt x="34" y="24"/>
                  </a:cubicBezTo>
                  <a:cubicBezTo>
                    <a:pt x="34" y="24"/>
                    <a:pt x="34" y="20"/>
                    <a:pt x="35" y="20"/>
                  </a:cubicBezTo>
                  <a:cubicBezTo>
                    <a:pt x="37" y="21"/>
                    <a:pt x="40" y="21"/>
                    <a:pt x="42" y="22"/>
                  </a:cubicBezTo>
                  <a:cubicBezTo>
                    <a:pt x="44" y="22"/>
                    <a:pt x="49" y="20"/>
                    <a:pt x="48" y="18"/>
                  </a:cubicBezTo>
                  <a:cubicBezTo>
                    <a:pt x="47" y="15"/>
                    <a:pt x="42" y="10"/>
                    <a:pt x="41" y="8"/>
                  </a:cubicBezTo>
                  <a:cubicBezTo>
                    <a:pt x="40" y="6"/>
                    <a:pt x="38" y="4"/>
                    <a:pt x="3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îślîḓê"/>
            <p:cNvSpPr/>
            <p:nvPr/>
          </p:nvSpPr>
          <p:spPr bwMode="auto">
            <a:xfrm>
              <a:off x="3373438" y="2324100"/>
              <a:ext cx="254000" cy="223838"/>
            </a:xfrm>
            <a:custGeom>
              <a:avLst/>
              <a:gdLst>
                <a:gd name="T0" fmla="*/ 54 w 77"/>
                <a:gd name="T1" fmla="*/ 14 h 68"/>
                <a:gd name="T2" fmla="*/ 47 w 77"/>
                <a:gd name="T3" fmla="*/ 25 h 68"/>
                <a:gd name="T4" fmla="*/ 46 w 77"/>
                <a:gd name="T5" fmla="*/ 25 h 68"/>
                <a:gd name="T6" fmla="*/ 35 w 77"/>
                <a:gd name="T7" fmla="*/ 23 h 68"/>
                <a:gd name="T8" fmla="*/ 27 w 77"/>
                <a:gd name="T9" fmla="*/ 19 h 68"/>
                <a:gd name="T10" fmla="*/ 22 w 77"/>
                <a:gd name="T11" fmla="*/ 22 h 68"/>
                <a:gd name="T12" fmla="*/ 25 w 77"/>
                <a:gd name="T13" fmla="*/ 32 h 68"/>
                <a:gd name="T14" fmla="*/ 34 w 77"/>
                <a:gd name="T15" fmla="*/ 35 h 68"/>
                <a:gd name="T16" fmla="*/ 40 w 77"/>
                <a:gd name="T17" fmla="*/ 34 h 68"/>
                <a:gd name="T18" fmla="*/ 37 w 77"/>
                <a:gd name="T19" fmla="*/ 38 h 68"/>
                <a:gd name="T20" fmla="*/ 25 w 77"/>
                <a:gd name="T21" fmla="*/ 50 h 68"/>
                <a:gd name="T22" fmla="*/ 11 w 77"/>
                <a:gd name="T23" fmla="*/ 57 h 68"/>
                <a:gd name="T24" fmla="*/ 9 w 77"/>
                <a:gd name="T25" fmla="*/ 55 h 68"/>
                <a:gd name="T26" fmla="*/ 3 w 77"/>
                <a:gd name="T27" fmla="*/ 56 h 68"/>
                <a:gd name="T28" fmla="*/ 2 w 77"/>
                <a:gd name="T29" fmla="*/ 64 h 68"/>
                <a:gd name="T30" fmla="*/ 6 w 77"/>
                <a:gd name="T31" fmla="*/ 67 h 68"/>
                <a:gd name="T32" fmla="*/ 19 w 77"/>
                <a:gd name="T33" fmla="*/ 59 h 68"/>
                <a:gd name="T34" fmla="*/ 36 w 77"/>
                <a:gd name="T35" fmla="*/ 49 h 68"/>
                <a:gd name="T36" fmla="*/ 48 w 77"/>
                <a:gd name="T37" fmla="*/ 33 h 68"/>
                <a:gd name="T38" fmla="*/ 63 w 77"/>
                <a:gd name="T39" fmla="*/ 33 h 68"/>
                <a:gd name="T40" fmla="*/ 70 w 77"/>
                <a:gd name="T41" fmla="*/ 34 h 68"/>
                <a:gd name="T42" fmla="*/ 75 w 77"/>
                <a:gd name="T43" fmla="*/ 30 h 68"/>
                <a:gd name="T44" fmla="*/ 68 w 77"/>
                <a:gd name="T45" fmla="*/ 25 h 68"/>
                <a:gd name="T46" fmla="*/ 59 w 77"/>
                <a:gd name="T47" fmla="*/ 26 h 68"/>
                <a:gd name="T48" fmla="*/ 54 w 77"/>
                <a:gd name="T49" fmla="*/ 25 h 68"/>
                <a:gd name="T50" fmla="*/ 57 w 77"/>
                <a:gd name="T51" fmla="*/ 20 h 68"/>
                <a:gd name="T52" fmla="*/ 61 w 77"/>
                <a:gd name="T53" fmla="*/ 16 h 68"/>
                <a:gd name="T54" fmla="*/ 66 w 77"/>
                <a:gd name="T55" fmla="*/ 11 h 68"/>
                <a:gd name="T56" fmla="*/ 65 w 77"/>
                <a:gd name="T57" fmla="*/ 2 h 68"/>
                <a:gd name="T58" fmla="*/ 58 w 77"/>
                <a:gd name="T59" fmla="*/ 4 h 68"/>
                <a:gd name="T60" fmla="*/ 54 w 77"/>
                <a:gd name="T61" fmla="*/ 1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68">
                  <a:moveTo>
                    <a:pt x="54" y="14"/>
                  </a:moveTo>
                  <a:cubicBezTo>
                    <a:pt x="54" y="14"/>
                    <a:pt x="50" y="19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4" y="25"/>
                    <a:pt x="37" y="25"/>
                    <a:pt x="35" y="23"/>
                  </a:cubicBezTo>
                  <a:cubicBezTo>
                    <a:pt x="32" y="22"/>
                    <a:pt x="28" y="19"/>
                    <a:pt x="27" y="19"/>
                  </a:cubicBezTo>
                  <a:cubicBezTo>
                    <a:pt x="25" y="18"/>
                    <a:pt x="23" y="19"/>
                    <a:pt x="22" y="22"/>
                  </a:cubicBezTo>
                  <a:cubicBezTo>
                    <a:pt x="21" y="25"/>
                    <a:pt x="21" y="28"/>
                    <a:pt x="25" y="32"/>
                  </a:cubicBezTo>
                  <a:cubicBezTo>
                    <a:pt x="29" y="37"/>
                    <a:pt x="30" y="36"/>
                    <a:pt x="34" y="35"/>
                  </a:cubicBezTo>
                  <a:cubicBezTo>
                    <a:pt x="36" y="35"/>
                    <a:pt x="38" y="34"/>
                    <a:pt x="40" y="34"/>
                  </a:cubicBezTo>
                  <a:cubicBezTo>
                    <a:pt x="38" y="36"/>
                    <a:pt x="37" y="38"/>
                    <a:pt x="37" y="38"/>
                  </a:cubicBezTo>
                  <a:cubicBezTo>
                    <a:pt x="35" y="40"/>
                    <a:pt x="29" y="47"/>
                    <a:pt x="25" y="50"/>
                  </a:cubicBezTo>
                  <a:cubicBezTo>
                    <a:pt x="21" y="52"/>
                    <a:pt x="11" y="57"/>
                    <a:pt x="11" y="57"/>
                  </a:cubicBezTo>
                  <a:cubicBezTo>
                    <a:pt x="12" y="58"/>
                    <a:pt x="9" y="58"/>
                    <a:pt x="9" y="55"/>
                  </a:cubicBezTo>
                  <a:cubicBezTo>
                    <a:pt x="8" y="52"/>
                    <a:pt x="6" y="54"/>
                    <a:pt x="3" y="56"/>
                  </a:cubicBezTo>
                  <a:cubicBezTo>
                    <a:pt x="0" y="58"/>
                    <a:pt x="2" y="62"/>
                    <a:pt x="2" y="64"/>
                  </a:cubicBezTo>
                  <a:cubicBezTo>
                    <a:pt x="1" y="66"/>
                    <a:pt x="1" y="68"/>
                    <a:pt x="6" y="67"/>
                  </a:cubicBezTo>
                  <a:cubicBezTo>
                    <a:pt x="10" y="66"/>
                    <a:pt x="14" y="62"/>
                    <a:pt x="19" y="59"/>
                  </a:cubicBezTo>
                  <a:cubicBezTo>
                    <a:pt x="24" y="57"/>
                    <a:pt x="32" y="53"/>
                    <a:pt x="36" y="49"/>
                  </a:cubicBezTo>
                  <a:cubicBezTo>
                    <a:pt x="39" y="46"/>
                    <a:pt x="45" y="38"/>
                    <a:pt x="48" y="33"/>
                  </a:cubicBezTo>
                  <a:cubicBezTo>
                    <a:pt x="53" y="33"/>
                    <a:pt x="61" y="33"/>
                    <a:pt x="63" y="33"/>
                  </a:cubicBezTo>
                  <a:cubicBezTo>
                    <a:pt x="65" y="33"/>
                    <a:pt x="67" y="35"/>
                    <a:pt x="70" y="34"/>
                  </a:cubicBezTo>
                  <a:cubicBezTo>
                    <a:pt x="73" y="34"/>
                    <a:pt x="77" y="33"/>
                    <a:pt x="75" y="30"/>
                  </a:cubicBezTo>
                  <a:cubicBezTo>
                    <a:pt x="73" y="27"/>
                    <a:pt x="71" y="24"/>
                    <a:pt x="68" y="25"/>
                  </a:cubicBezTo>
                  <a:cubicBezTo>
                    <a:pt x="65" y="26"/>
                    <a:pt x="61" y="26"/>
                    <a:pt x="59" y="26"/>
                  </a:cubicBezTo>
                  <a:cubicBezTo>
                    <a:pt x="59" y="26"/>
                    <a:pt x="56" y="26"/>
                    <a:pt x="54" y="25"/>
                  </a:cubicBezTo>
                  <a:cubicBezTo>
                    <a:pt x="55" y="23"/>
                    <a:pt x="57" y="21"/>
                    <a:pt x="57" y="20"/>
                  </a:cubicBezTo>
                  <a:cubicBezTo>
                    <a:pt x="59" y="18"/>
                    <a:pt x="60" y="17"/>
                    <a:pt x="61" y="16"/>
                  </a:cubicBezTo>
                  <a:cubicBezTo>
                    <a:pt x="62" y="16"/>
                    <a:pt x="65" y="14"/>
                    <a:pt x="66" y="11"/>
                  </a:cubicBezTo>
                  <a:cubicBezTo>
                    <a:pt x="67" y="9"/>
                    <a:pt x="66" y="3"/>
                    <a:pt x="65" y="2"/>
                  </a:cubicBezTo>
                  <a:cubicBezTo>
                    <a:pt x="63" y="0"/>
                    <a:pt x="59" y="1"/>
                    <a:pt x="58" y="4"/>
                  </a:cubicBezTo>
                  <a:cubicBezTo>
                    <a:pt x="56" y="7"/>
                    <a:pt x="55" y="14"/>
                    <a:pt x="5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ísḻiḓè"/>
            <p:cNvSpPr/>
            <p:nvPr/>
          </p:nvSpPr>
          <p:spPr bwMode="auto">
            <a:xfrm>
              <a:off x="2625726" y="2725738"/>
              <a:ext cx="890588" cy="1277938"/>
            </a:xfrm>
            <a:custGeom>
              <a:avLst/>
              <a:gdLst>
                <a:gd name="T0" fmla="*/ 135 w 270"/>
                <a:gd name="T1" fmla="*/ 22 h 387"/>
                <a:gd name="T2" fmla="*/ 131 w 270"/>
                <a:gd name="T3" fmla="*/ 22 h 387"/>
                <a:gd name="T4" fmla="*/ 117 w 270"/>
                <a:gd name="T5" fmla="*/ 6 h 387"/>
                <a:gd name="T6" fmla="*/ 99 w 270"/>
                <a:gd name="T7" fmla="*/ 6 h 387"/>
                <a:gd name="T8" fmla="*/ 85 w 270"/>
                <a:gd name="T9" fmla="*/ 0 h 387"/>
                <a:gd name="T10" fmla="*/ 100 w 270"/>
                <a:gd name="T11" fmla="*/ 20 h 387"/>
                <a:gd name="T12" fmla="*/ 113 w 270"/>
                <a:gd name="T13" fmla="*/ 20 h 387"/>
                <a:gd name="T14" fmla="*/ 126 w 270"/>
                <a:gd name="T15" fmla="*/ 23 h 387"/>
                <a:gd name="T16" fmla="*/ 88 w 270"/>
                <a:gd name="T17" fmla="*/ 45 h 387"/>
                <a:gd name="T18" fmla="*/ 82 w 270"/>
                <a:gd name="T19" fmla="*/ 108 h 387"/>
                <a:gd name="T20" fmla="*/ 60 w 270"/>
                <a:gd name="T21" fmla="*/ 108 h 387"/>
                <a:gd name="T22" fmla="*/ 35 w 270"/>
                <a:gd name="T23" fmla="*/ 142 h 387"/>
                <a:gd name="T24" fmla="*/ 25 w 270"/>
                <a:gd name="T25" fmla="*/ 309 h 387"/>
                <a:gd name="T26" fmla="*/ 0 w 270"/>
                <a:gd name="T27" fmla="*/ 387 h 387"/>
                <a:gd name="T28" fmla="*/ 30 w 270"/>
                <a:gd name="T29" fmla="*/ 387 h 387"/>
                <a:gd name="T30" fmla="*/ 45 w 270"/>
                <a:gd name="T31" fmla="*/ 367 h 387"/>
                <a:gd name="T32" fmla="*/ 37 w 270"/>
                <a:gd name="T33" fmla="*/ 387 h 387"/>
                <a:gd name="T34" fmla="*/ 63 w 270"/>
                <a:gd name="T35" fmla="*/ 387 h 387"/>
                <a:gd name="T36" fmla="*/ 70 w 270"/>
                <a:gd name="T37" fmla="*/ 353 h 387"/>
                <a:gd name="T38" fmla="*/ 78 w 270"/>
                <a:gd name="T39" fmla="*/ 167 h 387"/>
                <a:gd name="T40" fmla="*/ 90 w 270"/>
                <a:gd name="T41" fmla="*/ 151 h 387"/>
                <a:gd name="T42" fmla="*/ 130 w 270"/>
                <a:gd name="T43" fmla="*/ 151 h 387"/>
                <a:gd name="T44" fmla="*/ 130 w 270"/>
                <a:gd name="T45" fmla="*/ 69 h 387"/>
                <a:gd name="T46" fmla="*/ 113 w 270"/>
                <a:gd name="T47" fmla="*/ 48 h 387"/>
                <a:gd name="T48" fmla="*/ 135 w 270"/>
                <a:gd name="T49" fmla="*/ 27 h 387"/>
                <a:gd name="T50" fmla="*/ 156 w 270"/>
                <a:gd name="T51" fmla="*/ 48 h 387"/>
                <a:gd name="T52" fmla="*/ 139 w 270"/>
                <a:gd name="T53" fmla="*/ 69 h 387"/>
                <a:gd name="T54" fmla="*/ 139 w 270"/>
                <a:gd name="T55" fmla="*/ 151 h 387"/>
                <a:gd name="T56" fmla="*/ 180 w 270"/>
                <a:gd name="T57" fmla="*/ 151 h 387"/>
                <a:gd name="T58" fmla="*/ 191 w 270"/>
                <a:gd name="T59" fmla="*/ 167 h 387"/>
                <a:gd name="T60" fmla="*/ 200 w 270"/>
                <a:gd name="T61" fmla="*/ 353 h 387"/>
                <a:gd name="T62" fmla="*/ 207 w 270"/>
                <a:gd name="T63" fmla="*/ 387 h 387"/>
                <a:gd name="T64" fmla="*/ 233 w 270"/>
                <a:gd name="T65" fmla="*/ 387 h 387"/>
                <a:gd name="T66" fmla="*/ 224 w 270"/>
                <a:gd name="T67" fmla="*/ 367 h 387"/>
                <a:gd name="T68" fmla="*/ 239 w 270"/>
                <a:gd name="T69" fmla="*/ 387 h 387"/>
                <a:gd name="T70" fmla="*/ 270 w 270"/>
                <a:gd name="T71" fmla="*/ 387 h 387"/>
                <a:gd name="T72" fmla="*/ 244 w 270"/>
                <a:gd name="T73" fmla="*/ 309 h 387"/>
                <a:gd name="T74" fmla="*/ 235 w 270"/>
                <a:gd name="T75" fmla="*/ 142 h 387"/>
                <a:gd name="T76" fmla="*/ 209 w 270"/>
                <a:gd name="T77" fmla="*/ 108 h 387"/>
                <a:gd name="T78" fmla="*/ 188 w 270"/>
                <a:gd name="T79" fmla="*/ 108 h 387"/>
                <a:gd name="T80" fmla="*/ 182 w 270"/>
                <a:gd name="T81" fmla="*/ 45 h 387"/>
                <a:gd name="T82" fmla="*/ 144 w 270"/>
                <a:gd name="T83" fmla="*/ 23 h 387"/>
                <a:gd name="T84" fmla="*/ 157 w 270"/>
                <a:gd name="T85" fmla="*/ 20 h 387"/>
                <a:gd name="T86" fmla="*/ 170 w 270"/>
                <a:gd name="T87" fmla="*/ 20 h 387"/>
                <a:gd name="T88" fmla="*/ 184 w 270"/>
                <a:gd name="T89" fmla="*/ 0 h 387"/>
                <a:gd name="T90" fmla="*/ 170 w 270"/>
                <a:gd name="T91" fmla="*/ 6 h 387"/>
                <a:gd name="T92" fmla="*/ 153 w 270"/>
                <a:gd name="T93" fmla="*/ 6 h 387"/>
                <a:gd name="T94" fmla="*/ 139 w 270"/>
                <a:gd name="T95" fmla="*/ 22 h 387"/>
                <a:gd name="T96" fmla="*/ 135 w 270"/>
                <a:gd name="T97" fmla="*/ 2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70" h="387">
                  <a:moveTo>
                    <a:pt x="135" y="22"/>
                  </a:moveTo>
                  <a:cubicBezTo>
                    <a:pt x="133" y="22"/>
                    <a:pt x="132" y="22"/>
                    <a:pt x="131" y="22"/>
                  </a:cubicBezTo>
                  <a:cubicBezTo>
                    <a:pt x="130" y="15"/>
                    <a:pt x="126" y="6"/>
                    <a:pt x="117" y="6"/>
                  </a:cubicBezTo>
                  <a:cubicBezTo>
                    <a:pt x="110" y="6"/>
                    <a:pt x="106" y="6"/>
                    <a:pt x="99" y="6"/>
                  </a:cubicBezTo>
                  <a:cubicBezTo>
                    <a:pt x="93" y="6"/>
                    <a:pt x="88" y="4"/>
                    <a:pt x="85" y="0"/>
                  </a:cubicBezTo>
                  <a:cubicBezTo>
                    <a:pt x="87" y="9"/>
                    <a:pt x="90" y="18"/>
                    <a:pt x="100" y="20"/>
                  </a:cubicBezTo>
                  <a:cubicBezTo>
                    <a:pt x="104" y="20"/>
                    <a:pt x="109" y="20"/>
                    <a:pt x="113" y="20"/>
                  </a:cubicBezTo>
                  <a:cubicBezTo>
                    <a:pt x="120" y="20"/>
                    <a:pt x="123" y="21"/>
                    <a:pt x="126" y="23"/>
                  </a:cubicBezTo>
                  <a:cubicBezTo>
                    <a:pt x="109" y="24"/>
                    <a:pt x="93" y="30"/>
                    <a:pt x="88" y="45"/>
                  </a:cubicBezTo>
                  <a:cubicBezTo>
                    <a:pt x="83" y="59"/>
                    <a:pt x="85" y="92"/>
                    <a:pt x="82" y="108"/>
                  </a:cubicBezTo>
                  <a:cubicBezTo>
                    <a:pt x="75" y="108"/>
                    <a:pt x="67" y="108"/>
                    <a:pt x="60" y="108"/>
                  </a:cubicBezTo>
                  <a:cubicBezTo>
                    <a:pt x="42" y="107"/>
                    <a:pt x="36" y="123"/>
                    <a:pt x="35" y="142"/>
                  </a:cubicBezTo>
                  <a:cubicBezTo>
                    <a:pt x="32" y="198"/>
                    <a:pt x="28" y="253"/>
                    <a:pt x="25" y="309"/>
                  </a:cubicBezTo>
                  <a:cubicBezTo>
                    <a:pt x="23" y="352"/>
                    <a:pt x="14" y="372"/>
                    <a:pt x="0" y="387"/>
                  </a:cubicBezTo>
                  <a:cubicBezTo>
                    <a:pt x="10" y="387"/>
                    <a:pt x="20" y="387"/>
                    <a:pt x="30" y="387"/>
                  </a:cubicBezTo>
                  <a:cubicBezTo>
                    <a:pt x="35" y="383"/>
                    <a:pt x="38" y="378"/>
                    <a:pt x="45" y="367"/>
                  </a:cubicBezTo>
                  <a:cubicBezTo>
                    <a:pt x="42" y="377"/>
                    <a:pt x="40" y="382"/>
                    <a:pt x="37" y="387"/>
                  </a:cubicBezTo>
                  <a:cubicBezTo>
                    <a:pt x="46" y="387"/>
                    <a:pt x="54" y="387"/>
                    <a:pt x="63" y="387"/>
                  </a:cubicBezTo>
                  <a:cubicBezTo>
                    <a:pt x="68" y="377"/>
                    <a:pt x="70" y="365"/>
                    <a:pt x="70" y="353"/>
                  </a:cubicBezTo>
                  <a:cubicBezTo>
                    <a:pt x="73" y="291"/>
                    <a:pt x="76" y="229"/>
                    <a:pt x="78" y="167"/>
                  </a:cubicBezTo>
                  <a:cubicBezTo>
                    <a:pt x="79" y="157"/>
                    <a:pt x="82" y="151"/>
                    <a:pt x="90" y="151"/>
                  </a:cubicBezTo>
                  <a:cubicBezTo>
                    <a:pt x="103" y="151"/>
                    <a:pt x="117" y="151"/>
                    <a:pt x="130" y="151"/>
                  </a:cubicBezTo>
                  <a:cubicBezTo>
                    <a:pt x="130" y="124"/>
                    <a:pt x="130" y="96"/>
                    <a:pt x="130" y="69"/>
                  </a:cubicBezTo>
                  <a:cubicBezTo>
                    <a:pt x="121" y="67"/>
                    <a:pt x="113" y="58"/>
                    <a:pt x="113" y="48"/>
                  </a:cubicBezTo>
                  <a:cubicBezTo>
                    <a:pt x="113" y="36"/>
                    <a:pt x="123" y="27"/>
                    <a:pt x="135" y="27"/>
                  </a:cubicBezTo>
                  <a:cubicBezTo>
                    <a:pt x="147" y="27"/>
                    <a:pt x="156" y="36"/>
                    <a:pt x="156" y="48"/>
                  </a:cubicBezTo>
                  <a:cubicBezTo>
                    <a:pt x="156" y="58"/>
                    <a:pt x="149" y="67"/>
                    <a:pt x="139" y="69"/>
                  </a:cubicBezTo>
                  <a:cubicBezTo>
                    <a:pt x="139" y="96"/>
                    <a:pt x="139" y="124"/>
                    <a:pt x="139" y="151"/>
                  </a:cubicBezTo>
                  <a:cubicBezTo>
                    <a:pt x="153" y="151"/>
                    <a:pt x="166" y="151"/>
                    <a:pt x="180" y="151"/>
                  </a:cubicBezTo>
                  <a:cubicBezTo>
                    <a:pt x="188" y="151"/>
                    <a:pt x="191" y="157"/>
                    <a:pt x="191" y="167"/>
                  </a:cubicBezTo>
                  <a:cubicBezTo>
                    <a:pt x="194" y="229"/>
                    <a:pt x="197" y="291"/>
                    <a:pt x="200" y="353"/>
                  </a:cubicBezTo>
                  <a:cubicBezTo>
                    <a:pt x="200" y="365"/>
                    <a:pt x="202" y="377"/>
                    <a:pt x="207" y="387"/>
                  </a:cubicBezTo>
                  <a:cubicBezTo>
                    <a:pt x="215" y="387"/>
                    <a:pt x="224" y="387"/>
                    <a:pt x="233" y="387"/>
                  </a:cubicBezTo>
                  <a:cubicBezTo>
                    <a:pt x="230" y="382"/>
                    <a:pt x="227" y="377"/>
                    <a:pt x="224" y="367"/>
                  </a:cubicBezTo>
                  <a:cubicBezTo>
                    <a:pt x="232" y="378"/>
                    <a:pt x="235" y="383"/>
                    <a:pt x="239" y="387"/>
                  </a:cubicBezTo>
                  <a:cubicBezTo>
                    <a:pt x="249" y="387"/>
                    <a:pt x="260" y="387"/>
                    <a:pt x="270" y="387"/>
                  </a:cubicBezTo>
                  <a:cubicBezTo>
                    <a:pt x="256" y="372"/>
                    <a:pt x="247" y="352"/>
                    <a:pt x="244" y="309"/>
                  </a:cubicBezTo>
                  <a:cubicBezTo>
                    <a:pt x="242" y="253"/>
                    <a:pt x="238" y="198"/>
                    <a:pt x="235" y="142"/>
                  </a:cubicBezTo>
                  <a:cubicBezTo>
                    <a:pt x="234" y="123"/>
                    <a:pt x="228" y="107"/>
                    <a:pt x="209" y="108"/>
                  </a:cubicBezTo>
                  <a:cubicBezTo>
                    <a:pt x="202" y="108"/>
                    <a:pt x="195" y="108"/>
                    <a:pt x="188" y="108"/>
                  </a:cubicBezTo>
                  <a:cubicBezTo>
                    <a:pt x="185" y="92"/>
                    <a:pt x="186" y="59"/>
                    <a:pt x="182" y="45"/>
                  </a:cubicBezTo>
                  <a:cubicBezTo>
                    <a:pt x="176" y="30"/>
                    <a:pt x="161" y="24"/>
                    <a:pt x="144" y="23"/>
                  </a:cubicBezTo>
                  <a:cubicBezTo>
                    <a:pt x="146" y="21"/>
                    <a:pt x="150" y="20"/>
                    <a:pt x="157" y="20"/>
                  </a:cubicBezTo>
                  <a:cubicBezTo>
                    <a:pt x="161" y="20"/>
                    <a:pt x="166" y="20"/>
                    <a:pt x="170" y="20"/>
                  </a:cubicBezTo>
                  <a:cubicBezTo>
                    <a:pt x="180" y="18"/>
                    <a:pt x="183" y="9"/>
                    <a:pt x="184" y="0"/>
                  </a:cubicBezTo>
                  <a:cubicBezTo>
                    <a:pt x="181" y="4"/>
                    <a:pt x="177" y="6"/>
                    <a:pt x="170" y="6"/>
                  </a:cubicBezTo>
                  <a:cubicBezTo>
                    <a:pt x="164" y="6"/>
                    <a:pt x="159" y="6"/>
                    <a:pt x="153" y="6"/>
                  </a:cubicBezTo>
                  <a:cubicBezTo>
                    <a:pt x="144" y="6"/>
                    <a:pt x="140" y="15"/>
                    <a:pt x="139" y="22"/>
                  </a:cubicBezTo>
                  <a:cubicBezTo>
                    <a:pt x="138" y="22"/>
                    <a:pt x="136" y="22"/>
                    <a:pt x="135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íṣľíḍè"/>
            <p:cNvSpPr/>
            <p:nvPr/>
          </p:nvSpPr>
          <p:spPr bwMode="auto">
            <a:xfrm>
              <a:off x="1735138" y="2095500"/>
              <a:ext cx="2667000" cy="2670175"/>
            </a:xfrm>
            <a:custGeom>
              <a:avLst/>
              <a:gdLst>
                <a:gd name="T0" fmla="*/ 404 w 809"/>
                <a:gd name="T1" fmla="*/ 0 h 809"/>
                <a:gd name="T2" fmla="*/ 809 w 809"/>
                <a:gd name="T3" fmla="*/ 404 h 809"/>
                <a:gd name="T4" fmla="*/ 404 w 809"/>
                <a:gd name="T5" fmla="*/ 809 h 809"/>
                <a:gd name="T6" fmla="*/ 0 w 809"/>
                <a:gd name="T7" fmla="*/ 404 h 809"/>
                <a:gd name="T8" fmla="*/ 404 w 809"/>
                <a:gd name="T9" fmla="*/ 0 h 809"/>
                <a:gd name="T10" fmla="*/ 404 w 809"/>
                <a:gd name="T11" fmla="*/ 0 h 809"/>
                <a:gd name="T12" fmla="*/ 404 w 809"/>
                <a:gd name="T13" fmla="*/ 14 h 809"/>
                <a:gd name="T14" fmla="*/ 14 w 809"/>
                <a:gd name="T15" fmla="*/ 404 h 809"/>
                <a:gd name="T16" fmla="*/ 404 w 809"/>
                <a:gd name="T17" fmla="*/ 795 h 809"/>
                <a:gd name="T18" fmla="*/ 795 w 809"/>
                <a:gd name="T19" fmla="*/ 404 h 809"/>
                <a:gd name="T20" fmla="*/ 404 w 809"/>
                <a:gd name="T21" fmla="*/ 14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09" h="809">
                  <a:moveTo>
                    <a:pt x="404" y="0"/>
                  </a:moveTo>
                  <a:cubicBezTo>
                    <a:pt x="627" y="0"/>
                    <a:pt x="809" y="182"/>
                    <a:pt x="809" y="404"/>
                  </a:cubicBezTo>
                  <a:cubicBezTo>
                    <a:pt x="809" y="627"/>
                    <a:pt x="627" y="809"/>
                    <a:pt x="404" y="809"/>
                  </a:cubicBezTo>
                  <a:cubicBezTo>
                    <a:pt x="181" y="809"/>
                    <a:pt x="0" y="627"/>
                    <a:pt x="0" y="404"/>
                  </a:cubicBezTo>
                  <a:cubicBezTo>
                    <a:pt x="0" y="182"/>
                    <a:pt x="181" y="0"/>
                    <a:pt x="404" y="0"/>
                  </a:cubicBezTo>
                  <a:cubicBezTo>
                    <a:pt x="404" y="0"/>
                    <a:pt x="404" y="0"/>
                    <a:pt x="404" y="0"/>
                  </a:cubicBezTo>
                  <a:close/>
                  <a:moveTo>
                    <a:pt x="404" y="14"/>
                  </a:moveTo>
                  <a:cubicBezTo>
                    <a:pt x="189" y="14"/>
                    <a:pt x="14" y="189"/>
                    <a:pt x="14" y="404"/>
                  </a:cubicBezTo>
                  <a:cubicBezTo>
                    <a:pt x="14" y="619"/>
                    <a:pt x="189" y="795"/>
                    <a:pt x="404" y="795"/>
                  </a:cubicBezTo>
                  <a:cubicBezTo>
                    <a:pt x="619" y="795"/>
                    <a:pt x="795" y="619"/>
                    <a:pt x="795" y="404"/>
                  </a:cubicBezTo>
                  <a:cubicBezTo>
                    <a:pt x="795" y="189"/>
                    <a:pt x="619" y="14"/>
                    <a:pt x="40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íṡ1idé"/>
            <p:cNvSpPr/>
            <p:nvPr/>
          </p:nvSpPr>
          <p:spPr bwMode="auto">
            <a:xfrm>
              <a:off x="1897063" y="3373438"/>
              <a:ext cx="2333625" cy="1227138"/>
            </a:xfrm>
            <a:custGeom>
              <a:avLst/>
              <a:gdLst>
                <a:gd name="T0" fmla="*/ 21 w 708"/>
                <a:gd name="T1" fmla="*/ 23 h 372"/>
                <a:gd name="T2" fmla="*/ 53 w 708"/>
                <a:gd name="T3" fmla="*/ 35 h 372"/>
                <a:gd name="T4" fmla="*/ 51 w 708"/>
                <a:gd name="T5" fmla="*/ 26 h 372"/>
                <a:gd name="T6" fmla="*/ 18 w 708"/>
                <a:gd name="T7" fmla="*/ 47 h 372"/>
                <a:gd name="T8" fmla="*/ 18 w 708"/>
                <a:gd name="T9" fmla="*/ 88 h 372"/>
                <a:gd name="T10" fmla="*/ 48 w 708"/>
                <a:gd name="T11" fmla="*/ 67 h 372"/>
                <a:gd name="T12" fmla="*/ 18 w 708"/>
                <a:gd name="T13" fmla="*/ 88 h 372"/>
                <a:gd name="T14" fmla="*/ 62 w 708"/>
                <a:gd name="T15" fmla="*/ 109 h 372"/>
                <a:gd name="T16" fmla="*/ 64 w 708"/>
                <a:gd name="T17" fmla="*/ 147 h 372"/>
                <a:gd name="T18" fmla="*/ 42 w 708"/>
                <a:gd name="T19" fmla="*/ 155 h 372"/>
                <a:gd name="T20" fmla="*/ 57 w 708"/>
                <a:gd name="T21" fmla="*/ 206 h 372"/>
                <a:gd name="T22" fmla="*/ 116 w 708"/>
                <a:gd name="T23" fmla="*/ 203 h 372"/>
                <a:gd name="T24" fmla="*/ 93 w 708"/>
                <a:gd name="T25" fmla="*/ 174 h 372"/>
                <a:gd name="T26" fmla="*/ 46 w 708"/>
                <a:gd name="T27" fmla="*/ 181 h 372"/>
                <a:gd name="T28" fmla="*/ 129 w 708"/>
                <a:gd name="T29" fmla="*/ 265 h 372"/>
                <a:gd name="T30" fmla="*/ 149 w 708"/>
                <a:gd name="T31" fmla="*/ 251 h 372"/>
                <a:gd name="T32" fmla="*/ 121 w 708"/>
                <a:gd name="T33" fmla="*/ 221 h 372"/>
                <a:gd name="T34" fmla="*/ 111 w 708"/>
                <a:gd name="T35" fmla="*/ 252 h 372"/>
                <a:gd name="T36" fmla="*/ 164 w 708"/>
                <a:gd name="T37" fmla="*/ 295 h 372"/>
                <a:gd name="T38" fmla="*/ 175 w 708"/>
                <a:gd name="T39" fmla="*/ 321 h 372"/>
                <a:gd name="T40" fmla="*/ 132 w 708"/>
                <a:gd name="T41" fmla="*/ 292 h 372"/>
                <a:gd name="T42" fmla="*/ 146 w 708"/>
                <a:gd name="T43" fmla="*/ 291 h 372"/>
                <a:gd name="T44" fmla="*/ 211 w 708"/>
                <a:gd name="T45" fmla="*/ 283 h 372"/>
                <a:gd name="T46" fmla="*/ 260 w 708"/>
                <a:gd name="T47" fmla="*/ 308 h 372"/>
                <a:gd name="T48" fmla="*/ 205 w 708"/>
                <a:gd name="T49" fmla="*/ 335 h 372"/>
                <a:gd name="T50" fmla="*/ 342 w 708"/>
                <a:gd name="T51" fmla="*/ 329 h 372"/>
                <a:gd name="T52" fmla="*/ 344 w 708"/>
                <a:gd name="T53" fmla="*/ 352 h 372"/>
                <a:gd name="T54" fmla="*/ 303 w 708"/>
                <a:gd name="T55" fmla="*/ 320 h 372"/>
                <a:gd name="T56" fmla="*/ 320 w 708"/>
                <a:gd name="T57" fmla="*/ 364 h 372"/>
                <a:gd name="T58" fmla="*/ 360 w 708"/>
                <a:gd name="T59" fmla="*/ 321 h 372"/>
                <a:gd name="T60" fmla="*/ 416 w 708"/>
                <a:gd name="T61" fmla="*/ 315 h 372"/>
                <a:gd name="T62" fmla="*/ 384 w 708"/>
                <a:gd name="T63" fmla="*/ 368 h 372"/>
                <a:gd name="T64" fmla="*/ 464 w 708"/>
                <a:gd name="T65" fmla="*/ 350 h 372"/>
                <a:gd name="T66" fmla="*/ 433 w 708"/>
                <a:gd name="T67" fmla="*/ 313 h 372"/>
                <a:gd name="T68" fmla="*/ 508 w 708"/>
                <a:gd name="T69" fmla="*/ 337 h 372"/>
                <a:gd name="T70" fmla="*/ 500 w 708"/>
                <a:gd name="T71" fmla="*/ 285 h 372"/>
                <a:gd name="T72" fmla="*/ 483 w 708"/>
                <a:gd name="T73" fmla="*/ 294 h 372"/>
                <a:gd name="T74" fmla="*/ 508 w 708"/>
                <a:gd name="T75" fmla="*/ 337 h 372"/>
                <a:gd name="T76" fmla="*/ 515 w 708"/>
                <a:gd name="T77" fmla="*/ 276 h 372"/>
                <a:gd name="T78" fmla="*/ 548 w 708"/>
                <a:gd name="T79" fmla="*/ 279 h 372"/>
                <a:gd name="T80" fmla="*/ 550 w 708"/>
                <a:gd name="T81" fmla="*/ 283 h 372"/>
                <a:gd name="T82" fmla="*/ 547 w 708"/>
                <a:gd name="T83" fmla="*/ 316 h 372"/>
                <a:gd name="T84" fmla="*/ 609 w 708"/>
                <a:gd name="T85" fmla="*/ 250 h 372"/>
                <a:gd name="T86" fmla="*/ 608 w 708"/>
                <a:gd name="T87" fmla="*/ 227 h 372"/>
                <a:gd name="T88" fmla="*/ 573 w 708"/>
                <a:gd name="T89" fmla="*/ 241 h 372"/>
                <a:gd name="T90" fmla="*/ 609 w 708"/>
                <a:gd name="T91" fmla="*/ 250 h 372"/>
                <a:gd name="T92" fmla="*/ 656 w 708"/>
                <a:gd name="T93" fmla="*/ 184 h 372"/>
                <a:gd name="T94" fmla="*/ 613 w 708"/>
                <a:gd name="T95" fmla="*/ 172 h 372"/>
                <a:gd name="T96" fmla="*/ 625 w 708"/>
                <a:gd name="T97" fmla="*/ 165 h 372"/>
                <a:gd name="T98" fmla="*/ 650 w 708"/>
                <a:gd name="T99" fmla="*/ 169 h 372"/>
                <a:gd name="T100" fmla="*/ 651 w 708"/>
                <a:gd name="T101" fmla="*/ 215 h 372"/>
                <a:gd name="T102" fmla="*/ 635 w 708"/>
                <a:gd name="T103" fmla="*/ 139 h 372"/>
                <a:gd name="T104" fmla="*/ 683 w 708"/>
                <a:gd name="T105" fmla="*/ 137 h 372"/>
                <a:gd name="T106" fmla="*/ 655 w 708"/>
                <a:gd name="T107" fmla="*/ 73 h 372"/>
                <a:gd name="T108" fmla="*/ 690 w 708"/>
                <a:gd name="T109" fmla="*/ 98 h 372"/>
                <a:gd name="T110" fmla="*/ 684 w 708"/>
                <a:gd name="T111" fmla="*/ 17 h 372"/>
                <a:gd name="T112" fmla="*/ 698 w 708"/>
                <a:gd name="T113" fmla="*/ 34 h 372"/>
                <a:gd name="T114" fmla="*/ 659 w 708"/>
                <a:gd name="T115" fmla="*/ 29 h 372"/>
                <a:gd name="T116" fmla="*/ 659 w 708"/>
                <a:gd name="T117" fmla="*/ 11 h 372"/>
                <a:gd name="T118" fmla="*/ 663 w 708"/>
                <a:gd name="T119" fmla="*/ 6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08" h="372">
                  <a:moveTo>
                    <a:pt x="0" y="6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5" y="9"/>
                    <a:pt x="11" y="11"/>
                    <a:pt x="8" y="14"/>
                  </a:cubicBezTo>
                  <a:cubicBezTo>
                    <a:pt x="5" y="18"/>
                    <a:pt x="4" y="22"/>
                    <a:pt x="4" y="26"/>
                  </a:cubicBezTo>
                  <a:cubicBezTo>
                    <a:pt x="4" y="29"/>
                    <a:pt x="5" y="32"/>
                    <a:pt x="6" y="33"/>
                  </a:cubicBezTo>
                  <a:cubicBezTo>
                    <a:pt x="7" y="35"/>
                    <a:pt x="9" y="36"/>
                    <a:pt x="11" y="36"/>
                  </a:cubicBezTo>
                  <a:cubicBezTo>
                    <a:pt x="14" y="36"/>
                    <a:pt x="18" y="32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2"/>
                    <a:pt x="22" y="22"/>
                    <a:pt x="22" y="21"/>
                  </a:cubicBezTo>
                  <a:cubicBezTo>
                    <a:pt x="25" y="15"/>
                    <a:pt x="27" y="11"/>
                    <a:pt x="30" y="9"/>
                  </a:cubicBezTo>
                  <a:cubicBezTo>
                    <a:pt x="31" y="8"/>
                    <a:pt x="32" y="7"/>
                    <a:pt x="34" y="7"/>
                  </a:cubicBezTo>
                  <a:cubicBezTo>
                    <a:pt x="35" y="6"/>
                    <a:pt x="36" y="6"/>
                    <a:pt x="38" y="6"/>
                  </a:cubicBezTo>
                  <a:cubicBezTo>
                    <a:pt x="43" y="6"/>
                    <a:pt x="47" y="8"/>
                    <a:pt x="50" y="11"/>
                  </a:cubicBezTo>
                  <a:cubicBezTo>
                    <a:pt x="53" y="15"/>
                    <a:pt x="55" y="19"/>
                    <a:pt x="55" y="25"/>
                  </a:cubicBezTo>
                  <a:cubicBezTo>
                    <a:pt x="55" y="28"/>
                    <a:pt x="54" y="31"/>
                    <a:pt x="53" y="35"/>
                  </a:cubicBezTo>
                  <a:cubicBezTo>
                    <a:pt x="52" y="38"/>
                    <a:pt x="51" y="40"/>
                    <a:pt x="51" y="40"/>
                  </a:cubicBezTo>
                  <a:cubicBezTo>
                    <a:pt x="51" y="41"/>
                    <a:pt x="52" y="41"/>
                    <a:pt x="52" y="42"/>
                  </a:cubicBezTo>
                  <a:cubicBezTo>
                    <a:pt x="53" y="42"/>
                    <a:pt x="53" y="42"/>
                    <a:pt x="55" y="42"/>
                  </a:cubicBezTo>
                  <a:cubicBezTo>
                    <a:pt x="55" y="44"/>
                    <a:pt x="55" y="44"/>
                    <a:pt x="55" y="44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42" y="42"/>
                    <a:pt x="45" y="40"/>
                    <a:pt x="48" y="37"/>
                  </a:cubicBezTo>
                  <a:cubicBezTo>
                    <a:pt x="50" y="34"/>
                    <a:pt x="51" y="30"/>
                    <a:pt x="51" y="26"/>
                  </a:cubicBezTo>
                  <a:cubicBezTo>
                    <a:pt x="51" y="24"/>
                    <a:pt x="51" y="22"/>
                    <a:pt x="49" y="20"/>
                  </a:cubicBezTo>
                  <a:cubicBezTo>
                    <a:pt x="48" y="19"/>
                    <a:pt x="47" y="18"/>
                    <a:pt x="45" y="18"/>
                  </a:cubicBezTo>
                  <a:cubicBezTo>
                    <a:pt x="42" y="18"/>
                    <a:pt x="39" y="21"/>
                    <a:pt x="37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4" y="33"/>
                    <a:pt x="33" y="37"/>
                    <a:pt x="32" y="39"/>
                  </a:cubicBezTo>
                  <a:cubicBezTo>
                    <a:pt x="31" y="40"/>
                    <a:pt x="30" y="42"/>
                    <a:pt x="29" y="43"/>
                  </a:cubicBezTo>
                  <a:cubicBezTo>
                    <a:pt x="27" y="44"/>
                    <a:pt x="26" y="45"/>
                    <a:pt x="24" y="46"/>
                  </a:cubicBezTo>
                  <a:cubicBezTo>
                    <a:pt x="22" y="47"/>
                    <a:pt x="20" y="47"/>
                    <a:pt x="18" y="47"/>
                  </a:cubicBezTo>
                  <a:cubicBezTo>
                    <a:pt x="13" y="47"/>
                    <a:pt x="9" y="46"/>
                    <a:pt x="6" y="42"/>
                  </a:cubicBezTo>
                  <a:cubicBezTo>
                    <a:pt x="2" y="38"/>
                    <a:pt x="1" y="34"/>
                    <a:pt x="1" y="28"/>
                  </a:cubicBezTo>
                  <a:cubicBezTo>
                    <a:pt x="1" y="25"/>
                    <a:pt x="1" y="21"/>
                    <a:pt x="2" y="17"/>
                  </a:cubicBezTo>
                  <a:cubicBezTo>
                    <a:pt x="3" y="14"/>
                    <a:pt x="4" y="12"/>
                    <a:pt x="4" y="12"/>
                  </a:cubicBezTo>
                  <a:cubicBezTo>
                    <a:pt x="4" y="11"/>
                    <a:pt x="3" y="10"/>
                    <a:pt x="3" y="9"/>
                  </a:cubicBezTo>
                  <a:cubicBezTo>
                    <a:pt x="2" y="9"/>
                    <a:pt x="1" y="9"/>
                    <a:pt x="0" y="9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18" y="88"/>
                  </a:moveTo>
                  <a:cubicBezTo>
                    <a:pt x="16" y="89"/>
                    <a:pt x="14" y="90"/>
                    <a:pt x="13" y="91"/>
                  </a:cubicBezTo>
                  <a:cubicBezTo>
                    <a:pt x="12" y="92"/>
                    <a:pt x="12" y="94"/>
                    <a:pt x="12" y="96"/>
                  </a:cubicBezTo>
                  <a:cubicBezTo>
                    <a:pt x="10" y="96"/>
                    <a:pt x="10" y="96"/>
                    <a:pt x="10" y="96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8" y="70"/>
                    <a:pt x="8" y="71"/>
                    <a:pt x="10" y="72"/>
                  </a:cubicBezTo>
                  <a:cubicBezTo>
                    <a:pt x="11" y="73"/>
                    <a:pt x="13" y="73"/>
                    <a:pt x="16" y="73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50" y="66"/>
                    <a:pt x="52" y="66"/>
                    <a:pt x="53" y="64"/>
                  </a:cubicBezTo>
                  <a:cubicBezTo>
                    <a:pt x="54" y="63"/>
                    <a:pt x="54" y="61"/>
                    <a:pt x="54" y="59"/>
                  </a:cubicBezTo>
                  <a:cubicBezTo>
                    <a:pt x="56" y="59"/>
                    <a:pt x="56" y="59"/>
                    <a:pt x="56" y="59"/>
                  </a:cubicBezTo>
                  <a:cubicBezTo>
                    <a:pt x="61" y="88"/>
                    <a:pt x="61" y="88"/>
                    <a:pt x="61" y="88"/>
                  </a:cubicBezTo>
                  <a:cubicBezTo>
                    <a:pt x="59" y="88"/>
                    <a:pt x="59" y="88"/>
                    <a:pt x="59" y="88"/>
                  </a:cubicBezTo>
                  <a:cubicBezTo>
                    <a:pt x="59" y="85"/>
                    <a:pt x="58" y="84"/>
                    <a:pt x="56" y="83"/>
                  </a:cubicBezTo>
                  <a:cubicBezTo>
                    <a:pt x="55" y="82"/>
                    <a:pt x="53" y="82"/>
                    <a:pt x="51" y="83"/>
                  </a:cubicBezTo>
                  <a:cubicBezTo>
                    <a:pt x="18" y="88"/>
                    <a:pt x="18" y="88"/>
                    <a:pt x="18" y="88"/>
                  </a:cubicBezTo>
                  <a:close/>
                  <a:moveTo>
                    <a:pt x="41" y="158"/>
                  </a:moveTo>
                  <a:cubicBezTo>
                    <a:pt x="37" y="157"/>
                    <a:pt x="33" y="155"/>
                    <a:pt x="30" y="152"/>
                  </a:cubicBezTo>
                  <a:cubicBezTo>
                    <a:pt x="27" y="149"/>
                    <a:pt x="24" y="145"/>
                    <a:pt x="23" y="141"/>
                  </a:cubicBezTo>
                  <a:cubicBezTo>
                    <a:pt x="22" y="137"/>
                    <a:pt x="21" y="134"/>
                    <a:pt x="22" y="131"/>
                  </a:cubicBezTo>
                  <a:cubicBezTo>
                    <a:pt x="22" y="128"/>
                    <a:pt x="23" y="125"/>
                    <a:pt x="24" y="122"/>
                  </a:cubicBezTo>
                  <a:cubicBezTo>
                    <a:pt x="26" y="118"/>
                    <a:pt x="28" y="116"/>
                    <a:pt x="31" y="113"/>
                  </a:cubicBezTo>
                  <a:cubicBezTo>
                    <a:pt x="34" y="111"/>
                    <a:pt x="37" y="109"/>
                    <a:pt x="41" y="108"/>
                  </a:cubicBezTo>
                  <a:cubicBezTo>
                    <a:pt x="49" y="105"/>
                    <a:pt x="55" y="106"/>
                    <a:pt x="62" y="109"/>
                  </a:cubicBezTo>
                  <a:cubicBezTo>
                    <a:pt x="68" y="112"/>
                    <a:pt x="72" y="117"/>
                    <a:pt x="75" y="125"/>
                  </a:cubicBezTo>
                  <a:cubicBezTo>
                    <a:pt x="76" y="128"/>
                    <a:pt x="76" y="131"/>
                    <a:pt x="76" y="135"/>
                  </a:cubicBezTo>
                  <a:cubicBezTo>
                    <a:pt x="76" y="138"/>
                    <a:pt x="76" y="140"/>
                    <a:pt x="76" y="140"/>
                  </a:cubicBezTo>
                  <a:cubicBezTo>
                    <a:pt x="76" y="141"/>
                    <a:pt x="77" y="141"/>
                    <a:pt x="77" y="141"/>
                  </a:cubicBezTo>
                  <a:cubicBezTo>
                    <a:pt x="78" y="142"/>
                    <a:pt x="79" y="142"/>
                    <a:pt x="80" y="142"/>
                  </a:cubicBezTo>
                  <a:cubicBezTo>
                    <a:pt x="80" y="144"/>
                    <a:pt x="80" y="144"/>
                    <a:pt x="80" y="144"/>
                  </a:cubicBezTo>
                  <a:cubicBezTo>
                    <a:pt x="65" y="149"/>
                    <a:pt x="65" y="149"/>
                    <a:pt x="65" y="149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68" y="145"/>
                    <a:pt x="70" y="142"/>
                    <a:pt x="72" y="139"/>
                  </a:cubicBezTo>
                  <a:cubicBezTo>
                    <a:pt x="73" y="137"/>
                    <a:pt x="73" y="133"/>
                    <a:pt x="72" y="130"/>
                  </a:cubicBezTo>
                  <a:cubicBezTo>
                    <a:pt x="71" y="126"/>
                    <a:pt x="68" y="123"/>
                    <a:pt x="64" y="122"/>
                  </a:cubicBezTo>
                  <a:cubicBezTo>
                    <a:pt x="59" y="121"/>
                    <a:pt x="54" y="122"/>
                    <a:pt x="47" y="124"/>
                  </a:cubicBezTo>
                  <a:cubicBezTo>
                    <a:pt x="40" y="126"/>
                    <a:pt x="34" y="129"/>
                    <a:pt x="31" y="132"/>
                  </a:cubicBezTo>
                  <a:cubicBezTo>
                    <a:pt x="28" y="136"/>
                    <a:pt x="27" y="140"/>
                    <a:pt x="29" y="144"/>
                  </a:cubicBezTo>
                  <a:cubicBezTo>
                    <a:pt x="30" y="146"/>
                    <a:pt x="31" y="149"/>
                    <a:pt x="34" y="151"/>
                  </a:cubicBezTo>
                  <a:cubicBezTo>
                    <a:pt x="36" y="153"/>
                    <a:pt x="39" y="154"/>
                    <a:pt x="42" y="155"/>
                  </a:cubicBezTo>
                  <a:cubicBezTo>
                    <a:pt x="41" y="158"/>
                    <a:pt x="41" y="158"/>
                    <a:pt x="41" y="158"/>
                  </a:cubicBezTo>
                  <a:close/>
                  <a:moveTo>
                    <a:pt x="60" y="193"/>
                  </a:moveTo>
                  <a:cubicBezTo>
                    <a:pt x="73" y="185"/>
                    <a:pt x="73" y="185"/>
                    <a:pt x="73" y="185"/>
                  </a:cubicBezTo>
                  <a:cubicBezTo>
                    <a:pt x="81" y="198"/>
                    <a:pt x="81" y="198"/>
                    <a:pt x="81" y="198"/>
                  </a:cubicBezTo>
                  <a:cubicBezTo>
                    <a:pt x="68" y="207"/>
                    <a:pt x="68" y="207"/>
                    <a:pt x="68" y="207"/>
                  </a:cubicBezTo>
                  <a:cubicBezTo>
                    <a:pt x="66" y="208"/>
                    <a:pt x="64" y="208"/>
                    <a:pt x="63" y="208"/>
                  </a:cubicBezTo>
                  <a:cubicBezTo>
                    <a:pt x="61" y="208"/>
                    <a:pt x="60" y="207"/>
                    <a:pt x="59" y="205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72" y="231"/>
                    <a:pt x="72" y="231"/>
                    <a:pt x="72" y="231"/>
                  </a:cubicBezTo>
                  <a:cubicBezTo>
                    <a:pt x="74" y="230"/>
                    <a:pt x="74" y="230"/>
                    <a:pt x="74" y="230"/>
                  </a:cubicBezTo>
                  <a:cubicBezTo>
                    <a:pt x="73" y="228"/>
                    <a:pt x="72" y="226"/>
                    <a:pt x="73" y="224"/>
                  </a:cubicBezTo>
                  <a:cubicBezTo>
                    <a:pt x="73" y="223"/>
                    <a:pt x="75" y="222"/>
                    <a:pt x="77" y="220"/>
                  </a:cubicBezTo>
                  <a:cubicBezTo>
                    <a:pt x="105" y="203"/>
                    <a:pt x="105" y="203"/>
                    <a:pt x="105" y="203"/>
                  </a:cubicBezTo>
                  <a:cubicBezTo>
                    <a:pt x="107" y="201"/>
                    <a:pt x="109" y="201"/>
                    <a:pt x="110" y="201"/>
                  </a:cubicBezTo>
                  <a:cubicBezTo>
                    <a:pt x="112" y="201"/>
                    <a:pt x="113" y="202"/>
                    <a:pt x="114" y="204"/>
                  </a:cubicBezTo>
                  <a:cubicBezTo>
                    <a:pt x="116" y="203"/>
                    <a:pt x="116" y="203"/>
                    <a:pt x="116" y="203"/>
                  </a:cubicBezTo>
                  <a:cubicBezTo>
                    <a:pt x="101" y="179"/>
                    <a:pt x="101" y="179"/>
                    <a:pt x="101" y="179"/>
                  </a:cubicBezTo>
                  <a:cubicBezTo>
                    <a:pt x="99" y="180"/>
                    <a:pt x="99" y="180"/>
                    <a:pt x="99" y="180"/>
                  </a:cubicBezTo>
                  <a:cubicBezTo>
                    <a:pt x="100" y="182"/>
                    <a:pt x="101" y="183"/>
                    <a:pt x="100" y="185"/>
                  </a:cubicBezTo>
                  <a:cubicBezTo>
                    <a:pt x="100" y="186"/>
                    <a:pt x="98" y="188"/>
                    <a:pt x="96" y="189"/>
                  </a:cubicBezTo>
                  <a:cubicBezTo>
                    <a:pt x="85" y="196"/>
                    <a:pt x="85" y="196"/>
                    <a:pt x="85" y="196"/>
                  </a:cubicBezTo>
                  <a:cubicBezTo>
                    <a:pt x="76" y="183"/>
                    <a:pt x="76" y="183"/>
                    <a:pt x="76" y="183"/>
                  </a:cubicBezTo>
                  <a:cubicBezTo>
                    <a:pt x="88" y="176"/>
                    <a:pt x="88" y="176"/>
                    <a:pt x="88" y="176"/>
                  </a:cubicBezTo>
                  <a:cubicBezTo>
                    <a:pt x="90" y="174"/>
                    <a:pt x="92" y="174"/>
                    <a:pt x="93" y="174"/>
                  </a:cubicBezTo>
                  <a:cubicBezTo>
                    <a:pt x="95" y="174"/>
                    <a:pt x="96" y="175"/>
                    <a:pt x="98" y="177"/>
                  </a:cubicBezTo>
                  <a:cubicBezTo>
                    <a:pt x="99" y="176"/>
                    <a:pt x="99" y="176"/>
                    <a:pt x="99" y="176"/>
                  </a:cubicBezTo>
                  <a:cubicBezTo>
                    <a:pt x="84" y="152"/>
                    <a:pt x="84" y="152"/>
                    <a:pt x="84" y="152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3" y="155"/>
                    <a:pt x="84" y="157"/>
                    <a:pt x="83" y="158"/>
                  </a:cubicBezTo>
                  <a:cubicBezTo>
                    <a:pt x="83" y="159"/>
                    <a:pt x="82" y="161"/>
                    <a:pt x="79" y="162"/>
                  </a:cubicBezTo>
                  <a:cubicBezTo>
                    <a:pt x="52" y="180"/>
                    <a:pt x="52" y="180"/>
                    <a:pt x="52" y="180"/>
                  </a:cubicBezTo>
                  <a:cubicBezTo>
                    <a:pt x="49" y="181"/>
                    <a:pt x="47" y="182"/>
                    <a:pt x="46" y="181"/>
                  </a:cubicBezTo>
                  <a:cubicBezTo>
                    <a:pt x="44" y="181"/>
                    <a:pt x="43" y="180"/>
                    <a:pt x="42" y="178"/>
                  </a:cubicBezTo>
                  <a:cubicBezTo>
                    <a:pt x="40" y="179"/>
                    <a:pt x="40" y="179"/>
                    <a:pt x="40" y="179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7" y="203"/>
                    <a:pt x="57" y="203"/>
                    <a:pt x="57" y="203"/>
                  </a:cubicBezTo>
                  <a:cubicBezTo>
                    <a:pt x="56" y="201"/>
                    <a:pt x="56" y="199"/>
                    <a:pt x="56" y="197"/>
                  </a:cubicBezTo>
                  <a:cubicBezTo>
                    <a:pt x="56" y="196"/>
                    <a:pt x="58" y="195"/>
                    <a:pt x="60" y="193"/>
                  </a:cubicBezTo>
                  <a:cubicBezTo>
                    <a:pt x="60" y="193"/>
                    <a:pt x="60" y="193"/>
                    <a:pt x="60" y="193"/>
                  </a:cubicBezTo>
                  <a:close/>
                  <a:moveTo>
                    <a:pt x="129" y="265"/>
                  </a:moveTo>
                  <a:cubicBezTo>
                    <a:pt x="146" y="249"/>
                    <a:pt x="146" y="249"/>
                    <a:pt x="146" y="249"/>
                  </a:cubicBezTo>
                  <a:cubicBezTo>
                    <a:pt x="148" y="247"/>
                    <a:pt x="149" y="245"/>
                    <a:pt x="149" y="244"/>
                  </a:cubicBezTo>
                  <a:cubicBezTo>
                    <a:pt x="150" y="242"/>
                    <a:pt x="149" y="241"/>
                    <a:pt x="147" y="239"/>
                  </a:cubicBezTo>
                  <a:cubicBezTo>
                    <a:pt x="149" y="238"/>
                    <a:pt x="149" y="238"/>
                    <a:pt x="149" y="238"/>
                  </a:cubicBezTo>
                  <a:cubicBezTo>
                    <a:pt x="160" y="250"/>
                    <a:pt x="160" y="250"/>
                    <a:pt x="160" y="250"/>
                  </a:cubicBezTo>
                  <a:cubicBezTo>
                    <a:pt x="159" y="251"/>
                    <a:pt x="159" y="251"/>
                    <a:pt x="159" y="251"/>
                  </a:cubicBezTo>
                  <a:cubicBezTo>
                    <a:pt x="157" y="249"/>
                    <a:pt x="155" y="248"/>
                    <a:pt x="154" y="248"/>
                  </a:cubicBezTo>
                  <a:cubicBezTo>
                    <a:pt x="152" y="248"/>
                    <a:pt x="151" y="249"/>
                    <a:pt x="149" y="251"/>
                  </a:cubicBezTo>
                  <a:cubicBezTo>
                    <a:pt x="132" y="267"/>
                    <a:pt x="132" y="267"/>
                    <a:pt x="132" y="267"/>
                  </a:cubicBezTo>
                  <a:cubicBezTo>
                    <a:pt x="129" y="270"/>
                    <a:pt x="127" y="271"/>
                    <a:pt x="125" y="272"/>
                  </a:cubicBezTo>
                  <a:cubicBezTo>
                    <a:pt x="123" y="273"/>
                    <a:pt x="121" y="274"/>
                    <a:pt x="119" y="274"/>
                  </a:cubicBezTo>
                  <a:cubicBezTo>
                    <a:pt x="116" y="274"/>
                    <a:pt x="114" y="273"/>
                    <a:pt x="111" y="272"/>
                  </a:cubicBezTo>
                  <a:cubicBezTo>
                    <a:pt x="108" y="270"/>
                    <a:pt x="105" y="268"/>
                    <a:pt x="103" y="265"/>
                  </a:cubicBezTo>
                  <a:cubicBezTo>
                    <a:pt x="98" y="260"/>
                    <a:pt x="96" y="256"/>
                    <a:pt x="96" y="251"/>
                  </a:cubicBezTo>
                  <a:cubicBezTo>
                    <a:pt x="96" y="246"/>
                    <a:pt x="98" y="242"/>
                    <a:pt x="103" y="238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2" y="219"/>
                    <a:pt x="123" y="217"/>
                    <a:pt x="124" y="216"/>
                  </a:cubicBezTo>
                  <a:cubicBezTo>
                    <a:pt x="124" y="215"/>
                    <a:pt x="123" y="213"/>
                    <a:pt x="121" y="211"/>
                  </a:cubicBezTo>
                  <a:cubicBezTo>
                    <a:pt x="123" y="210"/>
                    <a:pt x="123" y="210"/>
                    <a:pt x="123" y="210"/>
                  </a:cubicBezTo>
                  <a:cubicBezTo>
                    <a:pt x="143" y="231"/>
                    <a:pt x="143" y="231"/>
                    <a:pt x="143" y="231"/>
                  </a:cubicBezTo>
                  <a:cubicBezTo>
                    <a:pt x="141" y="232"/>
                    <a:pt x="141" y="232"/>
                    <a:pt x="141" y="232"/>
                  </a:cubicBezTo>
                  <a:cubicBezTo>
                    <a:pt x="140" y="231"/>
                    <a:pt x="138" y="230"/>
                    <a:pt x="137" y="230"/>
                  </a:cubicBezTo>
                  <a:cubicBezTo>
                    <a:pt x="135" y="230"/>
                    <a:pt x="133" y="231"/>
                    <a:pt x="131" y="233"/>
                  </a:cubicBezTo>
                  <a:cubicBezTo>
                    <a:pt x="111" y="252"/>
                    <a:pt x="111" y="252"/>
                    <a:pt x="111" y="252"/>
                  </a:cubicBezTo>
                  <a:cubicBezTo>
                    <a:pt x="108" y="254"/>
                    <a:pt x="106" y="257"/>
                    <a:pt x="106" y="259"/>
                  </a:cubicBezTo>
                  <a:cubicBezTo>
                    <a:pt x="106" y="262"/>
                    <a:pt x="107" y="264"/>
                    <a:pt x="109" y="267"/>
                  </a:cubicBezTo>
                  <a:cubicBezTo>
                    <a:pt x="112" y="270"/>
                    <a:pt x="115" y="271"/>
                    <a:pt x="118" y="271"/>
                  </a:cubicBezTo>
                  <a:cubicBezTo>
                    <a:pt x="122" y="270"/>
                    <a:pt x="125" y="268"/>
                    <a:pt x="129" y="265"/>
                  </a:cubicBezTo>
                  <a:cubicBezTo>
                    <a:pt x="129" y="265"/>
                    <a:pt x="129" y="265"/>
                    <a:pt x="129" y="265"/>
                  </a:cubicBezTo>
                  <a:close/>
                  <a:moveTo>
                    <a:pt x="146" y="291"/>
                  </a:moveTo>
                  <a:cubicBezTo>
                    <a:pt x="153" y="287"/>
                    <a:pt x="153" y="287"/>
                    <a:pt x="153" y="287"/>
                  </a:cubicBezTo>
                  <a:cubicBezTo>
                    <a:pt x="164" y="295"/>
                    <a:pt x="164" y="295"/>
                    <a:pt x="164" y="295"/>
                  </a:cubicBezTo>
                  <a:cubicBezTo>
                    <a:pt x="161" y="304"/>
                    <a:pt x="161" y="304"/>
                    <a:pt x="161" y="304"/>
                  </a:cubicBezTo>
                  <a:cubicBezTo>
                    <a:pt x="161" y="305"/>
                    <a:pt x="161" y="305"/>
                    <a:pt x="160" y="305"/>
                  </a:cubicBezTo>
                  <a:cubicBezTo>
                    <a:pt x="160" y="306"/>
                    <a:pt x="160" y="306"/>
                    <a:pt x="160" y="306"/>
                  </a:cubicBezTo>
                  <a:cubicBezTo>
                    <a:pt x="159" y="307"/>
                    <a:pt x="158" y="308"/>
                    <a:pt x="158" y="308"/>
                  </a:cubicBezTo>
                  <a:cubicBezTo>
                    <a:pt x="157" y="307"/>
                    <a:pt x="155" y="307"/>
                    <a:pt x="153" y="305"/>
                  </a:cubicBezTo>
                  <a:cubicBezTo>
                    <a:pt x="152" y="307"/>
                    <a:pt x="152" y="307"/>
                    <a:pt x="152" y="307"/>
                  </a:cubicBezTo>
                  <a:cubicBezTo>
                    <a:pt x="174" y="322"/>
                    <a:pt x="174" y="322"/>
                    <a:pt x="174" y="322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4" y="320"/>
                    <a:pt x="174" y="320"/>
                    <a:pt x="173" y="319"/>
                  </a:cubicBezTo>
                  <a:cubicBezTo>
                    <a:pt x="173" y="318"/>
                    <a:pt x="173" y="316"/>
                    <a:pt x="174" y="315"/>
                  </a:cubicBezTo>
                  <a:cubicBezTo>
                    <a:pt x="186" y="268"/>
                    <a:pt x="186" y="268"/>
                    <a:pt x="186" y="268"/>
                  </a:cubicBezTo>
                  <a:cubicBezTo>
                    <a:pt x="181" y="264"/>
                    <a:pt x="181" y="264"/>
                    <a:pt x="181" y="264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39" y="291"/>
                    <a:pt x="138" y="291"/>
                    <a:pt x="137" y="292"/>
                  </a:cubicBezTo>
                  <a:cubicBezTo>
                    <a:pt x="135" y="292"/>
                    <a:pt x="134" y="291"/>
                    <a:pt x="133" y="291"/>
                  </a:cubicBezTo>
                  <a:cubicBezTo>
                    <a:pt x="132" y="292"/>
                    <a:pt x="132" y="292"/>
                    <a:pt x="132" y="292"/>
                  </a:cubicBezTo>
                  <a:cubicBezTo>
                    <a:pt x="145" y="301"/>
                    <a:pt x="145" y="301"/>
                    <a:pt x="145" y="301"/>
                  </a:cubicBezTo>
                  <a:cubicBezTo>
                    <a:pt x="146" y="300"/>
                    <a:pt x="146" y="300"/>
                    <a:pt x="146" y="300"/>
                  </a:cubicBezTo>
                  <a:cubicBezTo>
                    <a:pt x="145" y="299"/>
                    <a:pt x="145" y="299"/>
                    <a:pt x="145" y="299"/>
                  </a:cubicBezTo>
                  <a:cubicBezTo>
                    <a:pt x="144" y="298"/>
                    <a:pt x="143" y="297"/>
                    <a:pt x="143" y="296"/>
                  </a:cubicBezTo>
                  <a:cubicBezTo>
                    <a:pt x="142" y="295"/>
                    <a:pt x="143" y="294"/>
                    <a:pt x="143" y="293"/>
                  </a:cubicBezTo>
                  <a:cubicBezTo>
                    <a:pt x="144" y="293"/>
                    <a:pt x="144" y="293"/>
                    <a:pt x="144" y="292"/>
                  </a:cubicBezTo>
                  <a:cubicBezTo>
                    <a:pt x="145" y="292"/>
                    <a:pt x="145" y="292"/>
                    <a:pt x="146" y="291"/>
                  </a:cubicBezTo>
                  <a:cubicBezTo>
                    <a:pt x="146" y="291"/>
                    <a:pt x="146" y="291"/>
                    <a:pt x="146" y="291"/>
                  </a:cubicBezTo>
                  <a:close/>
                  <a:moveTo>
                    <a:pt x="156" y="285"/>
                  </a:moveTo>
                  <a:cubicBezTo>
                    <a:pt x="169" y="276"/>
                    <a:pt x="169" y="276"/>
                    <a:pt x="169" y="276"/>
                  </a:cubicBezTo>
                  <a:cubicBezTo>
                    <a:pt x="164" y="291"/>
                    <a:pt x="164" y="291"/>
                    <a:pt x="164" y="291"/>
                  </a:cubicBezTo>
                  <a:cubicBezTo>
                    <a:pt x="156" y="285"/>
                    <a:pt x="156" y="285"/>
                    <a:pt x="156" y="285"/>
                  </a:cubicBezTo>
                  <a:close/>
                  <a:moveTo>
                    <a:pt x="213" y="294"/>
                  </a:moveTo>
                  <a:cubicBezTo>
                    <a:pt x="214" y="292"/>
                    <a:pt x="214" y="290"/>
                    <a:pt x="214" y="288"/>
                  </a:cubicBezTo>
                  <a:cubicBezTo>
                    <a:pt x="213" y="287"/>
                    <a:pt x="212" y="286"/>
                    <a:pt x="210" y="285"/>
                  </a:cubicBezTo>
                  <a:cubicBezTo>
                    <a:pt x="211" y="283"/>
                    <a:pt x="211" y="283"/>
                    <a:pt x="211" y="283"/>
                  </a:cubicBezTo>
                  <a:cubicBezTo>
                    <a:pt x="230" y="292"/>
                    <a:pt x="230" y="292"/>
                    <a:pt x="230" y="292"/>
                  </a:cubicBezTo>
                  <a:cubicBezTo>
                    <a:pt x="239" y="329"/>
                    <a:pt x="239" y="329"/>
                    <a:pt x="239" y="329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9" y="308"/>
                    <a:pt x="250" y="306"/>
                    <a:pt x="249" y="305"/>
                  </a:cubicBezTo>
                  <a:cubicBezTo>
                    <a:pt x="249" y="304"/>
                    <a:pt x="248" y="302"/>
                    <a:pt x="245" y="301"/>
                  </a:cubicBezTo>
                  <a:cubicBezTo>
                    <a:pt x="246" y="299"/>
                    <a:pt x="246" y="299"/>
                    <a:pt x="246" y="299"/>
                  </a:cubicBezTo>
                  <a:cubicBezTo>
                    <a:pt x="261" y="306"/>
                    <a:pt x="261" y="306"/>
                    <a:pt x="261" y="306"/>
                  </a:cubicBezTo>
                  <a:cubicBezTo>
                    <a:pt x="260" y="308"/>
                    <a:pt x="260" y="308"/>
                    <a:pt x="260" y="308"/>
                  </a:cubicBezTo>
                  <a:cubicBezTo>
                    <a:pt x="258" y="307"/>
                    <a:pt x="256" y="307"/>
                    <a:pt x="255" y="308"/>
                  </a:cubicBezTo>
                  <a:cubicBezTo>
                    <a:pt x="254" y="308"/>
                    <a:pt x="252" y="310"/>
                    <a:pt x="251" y="312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28" y="348"/>
                    <a:pt x="228" y="348"/>
                    <a:pt x="228" y="348"/>
                  </a:cubicBezTo>
                  <a:cubicBezTo>
                    <a:pt x="215" y="297"/>
                    <a:pt x="215" y="297"/>
                    <a:pt x="215" y="297"/>
                  </a:cubicBezTo>
                  <a:cubicBezTo>
                    <a:pt x="202" y="325"/>
                    <a:pt x="202" y="325"/>
                    <a:pt x="202" y="325"/>
                  </a:cubicBezTo>
                  <a:cubicBezTo>
                    <a:pt x="201" y="328"/>
                    <a:pt x="200" y="330"/>
                    <a:pt x="201" y="331"/>
                  </a:cubicBezTo>
                  <a:cubicBezTo>
                    <a:pt x="201" y="332"/>
                    <a:pt x="203" y="334"/>
                    <a:pt x="205" y="335"/>
                  </a:cubicBezTo>
                  <a:cubicBezTo>
                    <a:pt x="204" y="337"/>
                    <a:pt x="204" y="337"/>
                    <a:pt x="204" y="337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90" y="328"/>
                    <a:pt x="190" y="328"/>
                    <a:pt x="190" y="328"/>
                  </a:cubicBezTo>
                  <a:cubicBezTo>
                    <a:pt x="192" y="329"/>
                    <a:pt x="194" y="329"/>
                    <a:pt x="195" y="328"/>
                  </a:cubicBezTo>
                  <a:cubicBezTo>
                    <a:pt x="196" y="328"/>
                    <a:pt x="198" y="326"/>
                    <a:pt x="199" y="324"/>
                  </a:cubicBezTo>
                  <a:cubicBezTo>
                    <a:pt x="213" y="294"/>
                    <a:pt x="213" y="294"/>
                    <a:pt x="213" y="294"/>
                  </a:cubicBezTo>
                  <a:close/>
                  <a:moveTo>
                    <a:pt x="340" y="352"/>
                  </a:moveTo>
                  <a:cubicBezTo>
                    <a:pt x="342" y="329"/>
                    <a:pt x="342" y="329"/>
                    <a:pt x="342" y="329"/>
                  </a:cubicBezTo>
                  <a:cubicBezTo>
                    <a:pt x="342" y="326"/>
                    <a:pt x="342" y="324"/>
                    <a:pt x="341" y="323"/>
                  </a:cubicBezTo>
                  <a:cubicBezTo>
                    <a:pt x="340" y="322"/>
                    <a:pt x="339" y="321"/>
                    <a:pt x="336" y="321"/>
                  </a:cubicBezTo>
                  <a:cubicBezTo>
                    <a:pt x="337" y="319"/>
                    <a:pt x="337" y="319"/>
                    <a:pt x="337" y="319"/>
                  </a:cubicBezTo>
                  <a:cubicBezTo>
                    <a:pt x="353" y="320"/>
                    <a:pt x="353" y="320"/>
                    <a:pt x="353" y="320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1" y="322"/>
                    <a:pt x="349" y="323"/>
                    <a:pt x="348" y="324"/>
                  </a:cubicBezTo>
                  <a:cubicBezTo>
                    <a:pt x="347" y="325"/>
                    <a:pt x="346" y="327"/>
                    <a:pt x="346" y="329"/>
                  </a:cubicBezTo>
                  <a:cubicBezTo>
                    <a:pt x="344" y="352"/>
                    <a:pt x="344" y="352"/>
                    <a:pt x="344" y="352"/>
                  </a:cubicBezTo>
                  <a:cubicBezTo>
                    <a:pt x="343" y="356"/>
                    <a:pt x="343" y="359"/>
                    <a:pt x="342" y="361"/>
                  </a:cubicBezTo>
                  <a:cubicBezTo>
                    <a:pt x="341" y="363"/>
                    <a:pt x="340" y="364"/>
                    <a:pt x="339" y="366"/>
                  </a:cubicBezTo>
                  <a:cubicBezTo>
                    <a:pt x="337" y="368"/>
                    <a:pt x="334" y="369"/>
                    <a:pt x="331" y="370"/>
                  </a:cubicBezTo>
                  <a:cubicBezTo>
                    <a:pt x="328" y="371"/>
                    <a:pt x="325" y="371"/>
                    <a:pt x="321" y="371"/>
                  </a:cubicBezTo>
                  <a:cubicBezTo>
                    <a:pt x="314" y="370"/>
                    <a:pt x="309" y="368"/>
                    <a:pt x="306" y="365"/>
                  </a:cubicBezTo>
                  <a:cubicBezTo>
                    <a:pt x="303" y="361"/>
                    <a:pt x="302" y="356"/>
                    <a:pt x="302" y="350"/>
                  </a:cubicBezTo>
                  <a:cubicBezTo>
                    <a:pt x="304" y="326"/>
                    <a:pt x="304" y="326"/>
                    <a:pt x="304" y="326"/>
                  </a:cubicBezTo>
                  <a:cubicBezTo>
                    <a:pt x="305" y="323"/>
                    <a:pt x="304" y="321"/>
                    <a:pt x="303" y="320"/>
                  </a:cubicBezTo>
                  <a:cubicBezTo>
                    <a:pt x="303" y="319"/>
                    <a:pt x="301" y="318"/>
                    <a:pt x="299" y="318"/>
                  </a:cubicBezTo>
                  <a:cubicBezTo>
                    <a:pt x="299" y="316"/>
                    <a:pt x="299" y="316"/>
                    <a:pt x="299" y="316"/>
                  </a:cubicBezTo>
                  <a:cubicBezTo>
                    <a:pt x="328" y="318"/>
                    <a:pt x="328" y="318"/>
                    <a:pt x="328" y="318"/>
                  </a:cubicBezTo>
                  <a:cubicBezTo>
                    <a:pt x="328" y="320"/>
                    <a:pt x="328" y="320"/>
                    <a:pt x="328" y="320"/>
                  </a:cubicBezTo>
                  <a:cubicBezTo>
                    <a:pt x="325" y="320"/>
                    <a:pt x="323" y="321"/>
                    <a:pt x="322" y="322"/>
                  </a:cubicBezTo>
                  <a:cubicBezTo>
                    <a:pt x="321" y="323"/>
                    <a:pt x="321" y="324"/>
                    <a:pt x="320" y="327"/>
                  </a:cubicBezTo>
                  <a:cubicBezTo>
                    <a:pt x="318" y="355"/>
                    <a:pt x="318" y="355"/>
                    <a:pt x="318" y="355"/>
                  </a:cubicBezTo>
                  <a:cubicBezTo>
                    <a:pt x="318" y="359"/>
                    <a:pt x="318" y="362"/>
                    <a:pt x="320" y="364"/>
                  </a:cubicBezTo>
                  <a:cubicBezTo>
                    <a:pt x="321" y="366"/>
                    <a:pt x="323" y="367"/>
                    <a:pt x="327" y="367"/>
                  </a:cubicBezTo>
                  <a:cubicBezTo>
                    <a:pt x="331" y="367"/>
                    <a:pt x="334" y="366"/>
                    <a:pt x="336" y="364"/>
                  </a:cubicBezTo>
                  <a:cubicBezTo>
                    <a:pt x="338" y="361"/>
                    <a:pt x="340" y="358"/>
                    <a:pt x="340" y="352"/>
                  </a:cubicBezTo>
                  <a:cubicBezTo>
                    <a:pt x="340" y="352"/>
                    <a:pt x="340" y="352"/>
                    <a:pt x="340" y="352"/>
                  </a:cubicBezTo>
                  <a:close/>
                  <a:moveTo>
                    <a:pt x="368" y="329"/>
                  </a:moveTo>
                  <a:cubicBezTo>
                    <a:pt x="368" y="327"/>
                    <a:pt x="367" y="325"/>
                    <a:pt x="366" y="324"/>
                  </a:cubicBezTo>
                  <a:cubicBezTo>
                    <a:pt x="365" y="323"/>
                    <a:pt x="363" y="323"/>
                    <a:pt x="361" y="323"/>
                  </a:cubicBezTo>
                  <a:cubicBezTo>
                    <a:pt x="360" y="321"/>
                    <a:pt x="360" y="321"/>
                    <a:pt x="360" y="321"/>
                  </a:cubicBezTo>
                  <a:cubicBezTo>
                    <a:pt x="382" y="318"/>
                    <a:pt x="382" y="318"/>
                    <a:pt x="382" y="318"/>
                  </a:cubicBezTo>
                  <a:cubicBezTo>
                    <a:pt x="410" y="344"/>
                    <a:pt x="410" y="344"/>
                    <a:pt x="410" y="344"/>
                  </a:cubicBezTo>
                  <a:cubicBezTo>
                    <a:pt x="407" y="324"/>
                    <a:pt x="407" y="324"/>
                    <a:pt x="407" y="324"/>
                  </a:cubicBezTo>
                  <a:cubicBezTo>
                    <a:pt x="407" y="321"/>
                    <a:pt x="406" y="320"/>
                    <a:pt x="405" y="319"/>
                  </a:cubicBezTo>
                  <a:cubicBezTo>
                    <a:pt x="404" y="318"/>
                    <a:pt x="402" y="317"/>
                    <a:pt x="400" y="317"/>
                  </a:cubicBezTo>
                  <a:cubicBezTo>
                    <a:pt x="399" y="316"/>
                    <a:pt x="399" y="316"/>
                    <a:pt x="399" y="316"/>
                  </a:cubicBezTo>
                  <a:cubicBezTo>
                    <a:pt x="416" y="313"/>
                    <a:pt x="416" y="313"/>
                    <a:pt x="416" y="313"/>
                  </a:cubicBezTo>
                  <a:cubicBezTo>
                    <a:pt x="416" y="315"/>
                    <a:pt x="416" y="315"/>
                    <a:pt x="416" y="315"/>
                  </a:cubicBezTo>
                  <a:cubicBezTo>
                    <a:pt x="414" y="316"/>
                    <a:pt x="412" y="316"/>
                    <a:pt x="411" y="318"/>
                  </a:cubicBezTo>
                  <a:cubicBezTo>
                    <a:pt x="410" y="319"/>
                    <a:pt x="410" y="321"/>
                    <a:pt x="411" y="323"/>
                  </a:cubicBezTo>
                  <a:cubicBezTo>
                    <a:pt x="416" y="365"/>
                    <a:pt x="416" y="365"/>
                    <a:pt x="416" y="365"/>
                  </a:cubicBezTo>
                  <a:cubicBezTo>
                    <a:pt x="411" y="366"/>
                    <a:pt x="411" y="366"/>
                    <a:pt x="411" y="366"/>
                  </a:cubicBezTo>
                  <a:cubicBezTo>
                    <a:pt x="372" y="330"/>
                    <a:pt x="372" y="330"/>
                    <a:pt x="372" y="330"/>
                  </a:cubicBezTo>
                  <a:cubicBezTo>
                    <a:pt x="376" y="361"/>
                    <a:pt x="376" y="361"/>
                    <a:pt x="376" y="361"/>
                  </a:cubicBezTo>
                  <a:cubicBezTo>
                    <a:pt x="377" y="364"/>
                    <a:pt x="377" y="366"/>
                    <a:pt x="379" y="367"/>
                  </a:cubicBezTo>
                  <a:cubicBezTo>
                    <a:pt x="380" y="368"/>
                    <a:pt x="381" y="368"/>
                    <a:pt x="384" y="368"/>
                  </a:cubicBezTo>
                  <a:cubicBezTo>
                    <a:pt x="384" y="370"/>
                    <a:pt x="384" y="370"/>
                    <a:pt x="384" y="370"/>
                  </a:cubicBezTo>
                  <a:cubicBezTo>
                    <a:pt x="368" y="372"/>
                    <a:pt x="368" y="372"/>
                    <a:pt x="368" y="372"/>
                  </a:cubicBezTo>
                  <a:cubicBezTo>
                    <a:pt x="367" y="370"/>
                    <a:pt x="367" y="370"/>
                    <a:pt x="367" y="370"/>
                  </a:cubicBezTo>
                  <a:cubicBezTo>
                    <a:pt x="370" y="370"/>
                    <a:pt x="371" y="369"/>
                    <a:pt x="372" y="368"/>
                  </a:cubicBezTo>
                  <a:cubicBezTo>
                    <a:pt x="373" y="366"/>
                    <a:pt x="373" y="364"/>
                    <a:pt x="373" y="362"/>
                  </a:cubicBezTo>
                  <a:cubicBezTo>
                    <a:pt x="368" y="329"/>
                    <a:pt x="368" y="329"/>
                    <a:pt x="368" y="329"/>
                  </a:cubicBezTo>
                  <a:close/>
                  <a:moveTo>
                    <a:pt x="461" y="345"/>
                  </a:moveTo>
                  <a:cubicBezTo>
                    <a:pt x="462" y="348"/>
                    <a:pt x="463" y="349"/>
                    <a:pt x="464" y="350"/>
                  </a:cubicBezTo>
                  <a:cubicBezTo>
                    <a:pt x="465" y="351"/>
                    <a:pt x="467" y="351"/>
                    <a:pt x="469" y="351"/>
                  </a:cubicBezTo>
                  <a:cubicBezTo>
                    <a:pt x="470" y="352"/>
                    <a:pt x="470" y="352"/>
                    <a:pt x="470" y="352"/>
                  </a:cubicBezTo>
                  <a:cubicBezTo>
                    <a:pt x="442" y="360"/>
                    <a:pt x="442" y="360"/>
                    <a:pt x="442" y="360"/>
                  </a:cubicBezTo>
                  <a:cubicBezTo>
                    <a:pt x="441" y="359"/>
                    <a:pt x="441" y="359"/>
                    <a:pt x="441" y="359"/>
                  </a:cubicBezTo>
                  <a:cubicBezTo>
                    <a:pt x="444" y="358"/>
                    <a:pt x="445" y="357"/>
                    <a:pt x="446" y="355"/>
                  </a:cubicBezTo>
                  <a:cubicBezTo>
                    <a:pt x="446" y="354"/>
                    <a:pt x="446" y="352"/>
                    <a:pt x="446" y="350"/>
                  </a:cubicBezTo>
                  <a:cubicBezTo>
                    <a:pt x="436" y="318"/>
                    <a:pt x="436" y="318"/>
                    <a:pt x="436" y="318"/>
                  </a:cubicBezTo>
                  <a:cubicBezTo>
                    <a:pt x="436" y="316"/>
                    <a:pt x="435" y="314"/>
                    <a:pt x="433" y="313"/>
                  </a:cubicBezTo>
                  <a:cubicBezTo>
                    <a:pt x="432" y="312"/>
                    <a:pt x="430" y="312"/>
                    <a:pt x="428" y="313"/>
                  </a:cubicBezTo>
                  <a:cubicBezTo>
                    <a:pt x="428" y="311"/>
                    <a:pt x="428" y="311"/>
                    <a:pt x="428" y="311"/>
                  </a:cubicBezTo>
                  <a:cubicBezTo>
                    <a:pt x="456" y="303"/>
                    <a:pt x="456" y="303"/>
                    <a:pt x="456" y="303"/>
                  </a:cubicBezTo>
                  <a:cubicBezTo>
                    <a:pt x="456" y="305"/>
                    <a:pt x="456" y="305"/>
                    <a:pt x="456" y="305"/>
                  </a:cubicBezTo>
                  <a:cubicBezTo>
                    <a:pt x="454" y="306"/>
                    <a:pt x="452" y="307"/>
                    <a:pt x="452" y="308"/>
                  </a:cubicBezTo>
                  <a:cubicBezTo>
                    <a:pt x="451" y="309"/>
                    <a:pt x="451" y="311"/>
                    <a:pt x="452" y="314"/>
                  </a:cubicBezTo>
                  <a:cubicBezTo>
                    <a:pt x="461" y="345"/>
                    <a:pt x="461" y="345"/>
                    <a:pt x="461" y="345"/>
                  </a:cubicBezTo>
                  <a:close/>
                  <a:moveTo>
                    <a:pt x="508" y="337"/>
                  </a:moveTo>
                  <a:cubicBezTo>
                    <a:pt x="511" y="336"/>
                    <a:pt x="511" y="336"/>
                    <a:pt x="511" y="336"/>
                  </a:cubicBezTo>
                  <a:cubicBezTo>
                    <a:pt x="507" y="287"/>
                    <a:pt x="507" y="287"/>
                    <a:pt x="507" y="287"/>
                  </a:cubicBezTo>
                  <a:cubicBezTo>
                    <a:pt x="507" y="285"/>
                    <a:pt x="507" y="284"/>
                    <a:pt x="507" y="282"/>
                  </a:cubicBezTo>
                  <a:cubicBezTo>
                    <a:pt x="508" y="281"/>
                    <a:pt x="509" y="280"/>
                    <a:pt x="510" y="279"/>
                  </a:cubicBezTo>
                  <a:cubicBezTo>
                    <a:pt x="509" y="277"/>
                    <a:pt x="509" y="277"/>
                    <a:pt x="509" y="277"/>
                  </a:cubicBezTo>
                  <a:cubicBezTo>
                    <a:pt x="495" y="285"/>
                    <a:pt x="495" y="285"/>
                    <a:pt x="495" y="285"/>
                  </a:cubicBezTo>
                  <a:cubicBezTo>
                    <a:pt x="496" y="286"/>
                    <a:pt x="496" y="286"/>
                    <a:pt x="496" y="286"/>
                  </a:cubicBezTo>
                  <a:cubicBezTo>
                    <a:pt x="498" y="286"/>
                    <a:pt x="499" y="285"/>
                    <a:pt x="500" y="285"/>
                  </a:cubicBezTo>
                  <a:cubicBezTo>
                    <a:pt x="501" y="285"/>
                    <a:pt x="502" y="286"/>
                    <a:pt x="503" y="287"/>
                  </a:cubicBezTo>
                  <a:cubicBezTo>
                    <a:pt x="503" y="287"/>
                    <a:pt x="503" y="287"/>
                    <a:pt x="503" y="288"/>
                  </a:cubicBezTo>
                  <a:cubicBezTo>
                    <a:pt x="503" y="288"/>
                    <a:pt x="503" y="289"/>
                    <a:pt x="503" y="290"/>
                  </a:cubicBezTo>
                  <a:cubicBezTo>
                    <a:pt x="506" y="316"/>
                    <a:pt x="506" y="316"/>
                    <a:pt x="506" y="316"/>
                  </a:cubicBezTo>
                  <a:cubicBezTo>
                    <a:pt x="485" y="298"/>
                    <a:pt x="485" y="298"/>
                    <a:pt x="485" y="298"/>
                  </a:cubicBezTo>
                  <a:cubicBezTo>
                    <a:pt x="484" y="297"/>
                    <a:pt x="484" y="297"/>
                    <a:pt x="484" y="297"/>
                  </a:cubicBezTo>
                  <a:cubicBezTo>
                    <a:pt x="484" y="297"/>
                    <a:pt x="484" y="296"/>
                    <a:pt x="483" y="296"/>
                  </a:cubicBezTo>
                  <a:cubicBezTo>
                    <a:pt x="483" y="295"/>
                    <a:pt x="483" y="295"/>
                    <a:pt x="483" y="294"/>
                  </a:cubicBezTo>
                  <a:cubicBezTo>
                    <a:pt x="484" y="293"/>
                    <a:pt x="485" y="292"/>
                    <a:pt x="486" y="292"/>
                  </a:cubicBezTo>
                  <a:cubicBezTo>
                    <a:pt x="486" y="291"/>
                    <a:pt x="486" y="291"/>
                    <a:pt x="486" y="291"/>
                  </a:cubicBezTo>
                  <a:cubicBezTo>
                    <a:pt x="486" y="290"/>
                    <a:pt x="486" y="290"/>
                    <a:pt x="486" y="290"/>
                  </a:cubicBezTo>
                  <a:cubicBezTo>
                    <a:pt x="462" y="302"/>
                    <a:pt x="462" y="302"/>
                    <a:pt x="462" y="302"/>
                  </a:cubicBezTo>
                  <a:cubicBezTo>
                    <a:pt x="463" y="304"/>
                    <a:pt x="463" y="304"/>
                    <a:pt x="463" y="304"/>
                  </a:cubicBezTo>
                  <a:cubicBezTo>
                    <a:pt x="464" y="303"/>
                    <a:pt x="465" y="303"/>
                    <a:pt x="467" y="303"/>
                  </a:cubicBezTo>
                  <a:cubicBezTo>
                    <a:pt x="468" y="304"/>
                    <a:pt x="469" y="305"/>
                    <a:pt x="471" y="306"/>
                  </a:cubicBezTo>
                  <a:cubicBezTo>
                    <a:pt x="508" y="337"/>
                    <a:pt x="508" y="337"/>
                    <a:pt x="508" y="337"/>
                  </a:cubicBezTo>
                  <a:close/>
                  <a:moveTo>
                    <a:pt x="547" y="316"/>
                  </a:moveTo>
                  <a:cubicBezTo>
                    <a:pt x="546" y="315"/>
                    <a:pt x="546" y="315"/>
                    <a:pt x="546" y="315"/>
                  </a:cubicBezTo>
                  <a:cubicBezTo>
                    <a:pt x="548" y="313"/>
                    <a:pt x="549" y="311"/>
                    <a:pt x="549" y="310"/>
                  </a:cubicBezTo>
                  <a:cubicBezTo>
                    <a:pt x="549" y="308"/>
                    <a:pt x="548" y="307"/>
                    <a:pt x="547" y="305"/>
                  </a:cubicBezTo>
                  <a:cubicBezTo>
                    <a:pt x="526" y="279"/>
                    <a:pt x="526" y="279"/>
                    <a:pt x="526" y="279"/>
                  </a:cubicBezTo>
                  <a:cubicBezTo>
                    <a:pt x="524" y="277"/>
                    <a:pt x="523" y="276"/>
                    <a:pt x="521" y="276"/>
                  </a:cubicBezTo>
                  <a:cubicBezTo>
                    <a:pt x="520" y="275"/>
                    <a:pt x="518" y="276"/>
                    <a:pt x="516" y="277"/>
                  </a:cubicBezTo>
                  <a:cubicBezTo>
                    <a:pt x="515" y="276"/>
                    <a:pt x="515" y="276"/>
                    <a:pt x="515" y="276"/>
                  </a:cubicBezTo>
                  <a:cubicBezTo>
                    <a:pt x="550" y="248"/>
                    <a:pt x="550" y="248"/>
                    <a:pt x="550" y="248"/>
                  </a:cubicBezTo>
                  <a:cubicBezTo>
                    <a:pt x="559" y="258"/>
                    <a:pt x="559" y="258"/>
                    <a:pt x="559" y="258"/>
                  </a:cubicBezTo>
                  <a:cubicBezTo>
                    <a:pt x="558" y="260"/>
                    <a:pt x="558" y="260"/>
                    <a:pt x="558" y="260"/>
                  </a:cubicBezTo>
                  <a:cubicBezTo>
                    <a:pt x="555" y="257"/>
                    <a:pt x="552" y="256"/>
                    <a:pt x="549" y="256"/>
                  </a:cubicBezTo>
                  <a:cubicBezTo>
                    <a:pt x="547" y="255"/>
                    <a:pt x="544" y="257"/>
                    <a:pt x="540" y="260"/>
                  </a:cubicBezTo>
                  <a:cubicBezTo>
                    <a:pt x="535" y="264"/>
                    <a:pt x="535" y="264"/>
                    <a:pt x="535" y="264"/>
                  </a:cubicBezTo>
                  <a:cubicBezTo>
                    <a:pt x="547" y="280"/>
                    <a:pt x="547" y="280"/>
                    <a:pt x="547" y="280"/>
                  </a:cubicBezTo>
                  <a:cubicBezTo>
                    <a:pt x="548" y="279"/>
                    <a:pt x="548" y="279"/>
                    <a:pt x="548" y="279"/>
                  </a:cubicBezTo>
                  <a:cubicBezTo>
                    <a:pt x="550" y="278"/>
                    <a:pt x="551" y="276"/>
                    <a:pt x="551" y="274"/>
                  </a:cubicBezTo>
                  <a:cubicBezTo>
                    <a:pt x="551" y="271"/>
                    <a:pt x="550" y="269"/>
                    <a:pt x="548" y="266"/>
                  </a:cubicBezTo>
                  <a:cubicBezTo>
                    <a:pt x="550" y="264"/>
                    <a:pt x="550" y="264"/>
                    <a:pt x="550" y="264"/>
                  </a:cubicBezTo>
                  <a:cubicBezTo>
                    <a:pt x="565" y="284"/>
                    <a:pt x="565" y="284"/>
                    <a:pt x="565" y="284"/>
                  </a:cubicBezTo>
                  <a:cubicBezTo>
                    <a:pt x="564" y="285"/>
                    <a:pt x="564" y="285"/>
                    <a:pt x="564" y="285"/>
                  </a:cubicBezTo>
                  <a:cubicBezTo>
                    <a:pt x="561" y="282"/>
                    <a:pt x="559" y="280"/>
                    <a:pt x="557" y="280"/>
                  </a:cubicBezTo>
                  <a:cubicBezTo>
                    <a:pt x="554" y="280"/>
                    <a:pt x="552" y="280"/>
                    <a:pt x="550" y="282"/>
                  </a:cubicBezTo>
                  <a:cubicBezTo>
                    <a:pt x="550" y="283"/>
                    <a:pt x="550" y="283"/>
                    <a:pt x="550" y="283"/>
                  </a:cubicBezTo>
                  <a:cubicBezTo>
                    <a:pt x="560" y="295"/>
                    <a:pt x="560" y="295"/>
                    <a:pt x="560" y="295"/>
                  </a:cubicBezTo>
                  <a:cubicBezTo>
                    <a:pt x="561" y="297"/>
                    <a:pt x="562" y="298"/>
                    <a:pt x="563" y="298"/>
                  </a:cubicBezTo>
                  <a:cubicBezTo>
                    <a:pt x="564" y="298"/>
                    <a:pt x="566" y="297"/>
                    <a:pt x="568" y="295"/>
                  </a:cubicBezTo>
                  <a:cubicBezTo>
                    <a:pt x="572" y="292"/>
                    <a:pt x="574" y="289"/>
                    <a:pt x="575" y="286"/>
                  </a:cubicBezTo>
                  <a:cubicBezTo>
                    <a:pt x="576" y="282"/>
                    <a:pt x="575" y="279"/>
                    <a:pt x="573" y="274"/>
                  </a:cubicBezTo>
                  <a:cubicBezTo>
                    <a:pt x="575" y="273"/>
                    <a:pt x="575" y="273"/>
                    <a:pt x="575" y="273"/>
                  </a:cubicBezTo>
                  <a:cubicBezTo>
                    <a:pt x="583" y="287"/>
                    <a:pt x="583" y="287"/>
                    <a:pt x="583" y="287"/>
                  </a:cubicBezTo>
                  <a:cubicBezTo>
                    <a:pt x="547" y="316"/>
                    <a:pt x="547" y="316"/>
                    <a:pt x="547" y="316"/>
                  </a:cubicBezTo>
                  <a:close/>
                  <a:moveTo>
                    <a:pt x="595" y="239"/>
                  </a:moveTo>
                  <a:cubicBezTo>
                    <a:pt x="596" y="238"/>
                    <a:pt x="596" y="238"/>
                    <a:pt x="596" y="238"/>
                  </a:cubicBezTo>
                  <a:cubicBezTo>
                    <a:pt x="598" y="236"/>
                    <a:pt x="599" y="233"/>
                    <a:pt x="599" y="231"/>
                  </a:cubicBezTo>
                  <a:cubicBezTo>
                    <a:pt x="598" y="229"/>
                    <a:pt x="597" y="226"/>
                    <a:pt x="594" y="224"/>
                  </a:cubicBezTo>
                  <a:cubicBezTo>
                    <a:pt x="591" y="221"/>
                    <a:pt x="588" y="220"/>
                    <a:pt x="586" y="220"/>
                  </a:cubicBezTo>
                  <a:cubicBezTo>
                    <a:pt x="583" y="220"/>
                    <a:pt x="581" y="222"/>
                    <a:pt x="579" y="225"/>
                  </a:cubicBezTo>
                  <a:cubicBezTo>
                    <a:pt x="595" y="239"/>
                    <a:pt x="595" y="239"/>
                    <a:pt x="595" y="239"/>
                  </a:cubicBezTo>
                  <a:close/>
                  <a:moveTo>
                    <a:pt x="609" y="250"/>
                  </a:moveTo>
                  <a:cubicBezTo>
                    <a:pt x="598" y="241"/>
                    <a:pt x="598" y="241"/>
                    <a:pt x="598" y="241"/>
                  </a:cubicBezTo>
                  <a:cubicBezTo>
                    <a:pt x="599" y="240"/>
                    <a:pt x="599" y="240"/>
                    <a:pt x="599" y="240"/>
                  </a:cubicBezTo>
                  <a:cubicBezTo>
                    <a:pt x="625" y="245"/>
                    <a:pt x="625" y="245"/>
                    <a:pt x="625" y="245"/>
                  </a:cubicBezTo>
                  <a:cubicBezTo>
                    <a:pt x="637" y="230"/>
                    <a:pt x="637" y="230"/>
                    <a:pt x="637" y="230"/>
                  </a:cubicBezTo>
                  <a:cubicBezTo>
                    <a:pt x="636" y="229"/>
                    <a:pt x="636" y="229"/>
                    <a:pt x="636" y="229"/>
                  </a:cubicBezTo>
                  <a:cubicBezTo>
                    <a:pt x="635" y="230"/>
                    <a:pt x="634" y="231"/>
                    <a:pt x="633" y="231"/>
                  </a:cubicBezTo>
                  <a:cubicBezTo>
                    <a:pt x="632" y="231"/>
                    <a:pt x="630" y="231"/>
                    <a:pt x="628" y="231"/>
                  </a:cubicBezTo>
                  <a:cubicBezTo>
                    <a:pt x="608" y="227"/>
                    <a:pt x="608" y="227"/>
                    <a:pt x="608" y="227"/>
                  </a:cubicBezTo>
                  <a:cubicBezTo>
                    <a:pt x="609" y="224"/>
                    <a:pt x="609" y="221"/>
                    <a:pt x="609" y="218"/>
                  </a:cubicBezTo>
                  <a:cubicBezTo>
                    <a:pt x="608" y="215"/>
                    <a:pt x="607" y="213"/>
                    <a:pt x="604" y="211"/>
                  </a:cubicBezTo>
                  <a:cubicBezTo>
                    <a:pt x="601" y="208"/>
                    <a:pt x="597" y="207"/>
                    <a:pt x="593" y="209"/>
                  </a:cubicBezTo>
                  <a:cubicBezTo>
                    <a:pt x="589" y="210"/>
                    <a:pt x="585" y="213"/>
                    <a:pt x="580" y="21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3" y="241"/>
                    <a:pt x="563" y="241"/>
                    <a:pt x="563" y="241"/>
                  </a:cubicBezTo>
                  <a:cubicBezTo>
                    <a:pt x="565" y="240"/>
                    <a:pt x="567" y="239"/>
                    <a:pt x="568" y="239"/>
                  </a:cubicBezTo>
                  <a:cubicBezTo>
                    <a:pt x="569" y="239"/>
                    <a:pt x="571" y="239"/>
                    <a:pt x="573" y="241"/>
                  </a:cubicBezTo>
                  <a:cubicBezTo>
                    <a:pt x="598" y="262"/>
                    <a:pt x="598" y="262"/>
                    <a:pt x="598" y="262"/>
                  </a:cubicBezTo>
                  <a:cubicBezTo>
                    <a:pt x="600" y="264"/>
                    <a:pt x="602" y="266"/>
                    <a:pt x="602" y="267"/>
                  </a:cubicBezTo>
                  <a:cubicBezTo>
                    <a:pt x="602" y="269"/>
                    <a:pt x="601" y="270"/>
                    <a:pt x="600" y="272"/>
                  </a:cubicBezTo>
                  <a:cubicBezTo>
                    <a:pt x="601" y="273"/>
                    <a:pt x="601" y="273"/>
                    <a:pt x="601" y="273"/>
                  </a:cubicBezTo>
                  <a:cubicBezTo>
                    <a:pt x="620" y="251"/>
                    <a:pt x="620" y="251"/>
                    <a:pt x="620" y="251"/>
                  </a:cubicBezTo>
                  <a:cubicBezTo>
                    <a:pt x="619" y="249"/>
                    <a:pt x="619" y="249"/>
                    <a:pt x="619" y="249"/>
                  </a:cubicBezTo>
                  <a:cubicBezTo>
                    <a:pt x="617" y="251"/>
                    <a:pt x="616" y="252"/>
                    <a:pt x="614" y="252"/>
                  </a:cubicBezTo>
                  <a:cubicBezTo>
                    <a:pt x="613" y="253"/>
                    <a:pt x="611" y="252"/>
                    <a:pt x="609" y="250"/>
                  </a:cubicBezTo>
                  <a:cubicBezTo>
                    <a:pt x="609" y="250"/>
                    <a:pt x="609" y="250"/>
                    <a:pt x="609" y="250"/>
                  </a:cubicBezTo>
                  <a:close/>
                  <a:moveTo>
                    <a:pt x="651" y="215"/>
                  </a:moveTo>
                  <a:cubicBezTo>
                    <a:pt x="634" y="206"/>
                    <a:pt x="634" y="206"/>
                    <a:pt x="634" y="206"/>
                  </a:cubicBezTo>
                  <a:cubicBezTo>
                    <a:pt x="635" y="204"/>
                    <a:pt x="635" y="204"/>
                    <a:pt x="635" y="204"/>
                  </a:cubicBezTo>
                  <a:cubicBezTo>
                    <a:pt x="639" y="206"/>
                    <a:pt x="643" y="206"/>
                    <a:pt x="648" y="205"/>
                  </a:cubicBezTo>
                  <a:cubicBezTo>
                    <a:pt x="652" y="203"/>
                    <a:pt x="655" y="200"/>
                    <a:pt x="657" y="196"/>
                  </a:cubicBezTo>
                  <a:cubicBezTo>
                    <a:pt x="659" y="194"/>
                    <a:pt x="659" y="191"/>
                    <a:pt x="659" y="189"/>
                  </a:cubicBezTo>
                  <a:cubicBezTo>
                    <a:pt x="659" y="187"/>
                    <a:pt x="658" y="185"/>
                    <a:pt x="656" y="184"/>
                  </a:cubicBezTo>
                  <a:cubicBezTo>
                    <a:pt x="653" y="183"/>
                    <a:pt x="648" y="185"/>
                    <a:pt x="641" y="190"/>
                  </a:cubicBezTo>
                  <a:cubicBezTo>
                    <a:pt x="640" y="190"/>
                    <a:pt x="640" y="190"/>
                    <a:pt x="640" y="190"/>
                  </a:cubicBezTo>
                  <a:cubicBezTo>
                    <a:pt x="640" y="191"/>
                    <a:pt x="639" y="191"/>
                    <a:pt x="638" y="192"/>
                  </a:cubicBezTo>
                  <a:cubicBezTo>
                    <a:pt x="633" y="196"/>
                    <a:pt x="629" y="198"/>
                    <a:pt x="626" y="198"/>
                  </a:cubicBezTo>
                  <a:cubicBezTo>
                    <a:pt x="625" y="199"/>
                    <a:pt x="623" y="199"/>
                    <a:pt x="622" y="198"/>
                  </a:cubicBezTo>
                  <a:cubicBezTo>
                    <a:pt x="620" y="198"/>
                    <a:pt x="619" y="198"/>
                    <a:pt x="618" y="197"/>
                  </a:cubicBezTo>
                  <a:cubicBezTo>
                    <a:pt x="614" y="195"/>
                    <a:pt x="611" y="191"/>
                    <a:pt x="610" y="186"/>
                  </a:cubicBezTo>
                  <a:cubicBezTo>
                    <a:pt x="609" y="182"/>
                    <a:pt x="610" y="177"/>
                    <a:pt x="613" y="172"/>
                  </a:cubicBezTo>
                  <a:cubicBezTo>
                    <a:pt x="614" y="169"/>
                    <a:pt x="616" y="167"/>
                    <a:pt x="619" y="165"/>
                  </a:cubicBezTo>
                  <a:cubicBezTo>
                    <a:pt x="622" y="162"/>
                    <a:pt x="623" y="161"/>
                    <a:pt x="623" y="161"/>
                  </a:cubicBezTo>
                  <a:cubicBezTo>
                    <a:pt x="624" y="160"/>
                    <a:pt x="624" y="159"/>
                    <a:pt x="623" y="159"/>
                  </a:cubicBezTo>
                  <a:cubicBezTo>
                    <a:pt x="623" y="158"/>
                    <a:pt x="622" y="158"/>
                    <a:pt x="621" y="157"/>
                  </a:cubicBezTo>
                  <a:cubicBezTo>
                    <a:pt x="622" y="155"/>
                    <a:pt x="622" y="155"/>
                    <a:pt x="622" y="155"/>
                  </a:cubicBezTo>
                  <a:cubicBezTo>
                    <a:pt x="637" y="163"/>
                    <a:pt x="637" y="163"/>
                    <a:pt x="637" y="163"/>
                  </a:cubicBezTo>
                  <a:cubicBezTo>
                    <a:pt x="636" y="165"/>
                    <a:pt x="636" y="165"/>
                    <a:pt x="636" y="165"/>
                  </a:cubicBezTo>
                  <a:cubicBezTo>
                    <a:pt x="632" y="163"/>
                    <a:pt x="628" y="163"/>
                    <a:pt x="625" y="165"/>
                  </a:cubicBezTo>
                  <a:cubicBezTo>
                    <a:pt x="621" y="166"/>
                    <a:pt x="618" y="169"/>
                    <a:pt x="616" y="173"/>
                  </a:cubicBezTo>
                  <a:cubicBezTo>
                    <a:pt x="615" y="175"/>
                    <a:pt x="615" y="177"/>
                    <a:pt x="615" y="179"/>
                  </a:cubicBezTo>
                  <a:cubicBezTo>
                    <a:pt x="615" y="181"/>
                    <a:pt x="616" y="182"/>
                    <a:pt x="618" y="183"/>
                  </a:cubicBezTo>
                  <a:cubicBezTo>
                    <a:pt x="620" y="184"/>
                    <a:pt x="624" y="183"/>
                    <a:pt x="630" y="179"/>
                  </a:cubicBezTo>
                  <a:cubicBezTo>
                    <a:pt x="630" y="178"/>
                    <a:pt x="630" y="178"/>
                    <a:pt x="630" y="178"/>
                  </a:cubicBezTo>
                  <a:cubicBezTo>
                    <a:pt x="634" y="175"/>
                    <a:pt x="637" y="173"/>
                    <a:pt x="639" y="172"/>
                  </a:cubicBezTo>
                  <a:cubicBezTo>
                    <a:pt x="641" y="170"/>
                    <a:pt x="643" y="170"/>
                    <a:pt x="644" y="169"/>
                  </a:cubicBezTo>
                  <a:cubicBezTo>
                    <a:pt x="646" y="169"/>
                    <a:pt x="648" y="169"/>
                    <a:pt x="650" y="169"/>
                  </a:cubicBezTo>
                  <a:cubicBezTo>
                    <a:pt x="652" y="169"/>
                    <a:pt x="654" y="170"/>
                    <a:pt x="656" y="171"/>
                  </a:cubicBezTo>
                  <a:cubicBezTo>
                    <a:pt x="660" y="173"/>
                    <a:pt x="663" y="177"/>
                    <a:pt x="664" y="182"/>
                  </a:cubicBezTo>
                  <a:cubicBezTo>
                    <a:pt x="665" y="186"/>
                    <a:pt x="664" y="191"/>
                    <a:pt x="661" y="197"/>
                  </a:cubicBezTo>
                  <a:cubicBezTo>
                    <a:pt x="659" y="199"/>
                    <a:pt x="657" y="202"/>
                    <a:pt x="654" y="205"/>
                  </a:cubicBezTo>
                  <a:cubicBezTo>
                    <a:pt x="652" y="207"/>
                    <a:pt x="650" y="209"/>
                    <a:pt x="650" y="209"/>
                  </a:cubicBezTo>
                  <a:cubicBezTo>
                    <a:pt x="650" y="210"/>
                    <a:pt x="650" y="211"/>
                    <a:pt x="650" y="211"/>
                  </a:cubicBezTo>
                  <a:cubicBezTo>
                    <a:pt x="650" y="212"/>
                    <a:pt x="651" y="213"/>
                    <a:pt x="652" y="213"/>
                  </a:cubicBezTo>
                  <a:cubicBezTo>
                    <a:pt x="651" y="215"/>
                    <a:pt x="651" y="215"/>
                    <a:pt x="651" y="215"/>
                  </a:cubicBezTo>
                  <a:close/>
                  <a:moveTo>
                    <a:pt x="678" y="136"/>
                  </a:moveTo>
                  <a:cubicBezTo>
                    <a:pt x="647" y="124"/>
                    <a:pt x="647" y="124"/>
                    <a:pt x="647" y="124"/>
                  </a:cubicBezTo>
                  <a:cubicBezTo>
                    <a:pt x="644" y="123"/>
                    <a:pt x="643" y="122"/>
                    <a:pt x="642" y="121"/>
                  </a:cubicBezTo>
                  <a:cubicBezTo>
                    <a:pt x="642" y="120"/>
                    <a:pt x="642" y="118"/>
                    <a:pt x="642" y="116"/>
                  </a:cubicBezTo>
                  <a:cubicBezTo>
                    <a:pt x="641" y="115"/>
                    <a:pt x="641" y="115"/>
                    <a:pt x="641" y="115"/>
                  </a:cubicBezTo>
                  <a:cubicBezTo>
                    <a:pt x="630" y="142"/>
                    <a:pt x="630" y="142"/>
                    <a:pt x="630" y="142"/>
                  </a:cubicBezTo>
                  <a:cubicBezTo>
                    <a:pt x="632" y="143"/>
                    <a:pt x="632" y="143"/>
                    <a:pt x="632" y="143"/>
                  </a:cubicBezTo>
                  <a:cubicBezTo>
                    <a:pt x="633" y="141"/>
                    <a:pt x="634" y="139"/>
                    <a:pt x="635" y="139"/>
                  </a:cubicBezTo>
                  <a:cubicBezTo>
                    <a:pt x="637" y="138"/>
                    <a:pt x="639" y="138"/>
                    <a:pt x="641" y="139"/>
                  </a:cubicBezTo>
                  <a:cubicBezTo>
                    <a:pt x="672" y="151"/>
                    <a:pt x="672" y="151"/>
                    <a:pt x="672" y="151"/>
                  </a:cubicBezTo>
                  <a:cubicBezTo>
                    <a:pt x="674" y="152"/>
                    <a:pt x="676" y="153"/>
                    <a:pt x="677" y="154"/>
                  </a:cubicBezTo>
                  <a:cubicBezTo>
                    <a:pt x="677" y="156"/>
                    <a:pt x="677" y="158"/>
                    <a:pt x="676" y="160"/>
                  </a:cubicBezTo>
                  <a:cubicBezTo>
                    <a:pt x="678" y="161"/>
                    <a:pt x="678" y="161"/>
                    <a:pt x="678" y="161"/>
                  </a:cubicBezTo>
                  <a:cubicBezTo>
                    <a:pt x="689" y="133"/>
                    <a:pt x="689" y="133"/>
                    <a:pt x="689" y="133"/>
                  </a:cubicBezTo>
                  <a:cubicBezTo>
                    <a:pt x="687" y="133"/>
                    <a:pt x="687" y="133"/>
                    <a:pt x="687" y="133"/>
                  </a:cubicBezTo>
                  <a:cubicBezTo>
                    <a:pt x="686" y="135"/>
                    <a:pt x="685" y="136"/>
                    <a:pt x="683" y="137"/>
                  </a:cubicBezTo>
                  <a:cubicBezTo>
                    <a:pt x="682" y="137"/>
                    <a:pt x="680" y="137"/>
                    <a:pt x="678" y="136"/>
                  </a:cubicBezTo>
                  <a:cubicBezTo>
                    <a:pt x="678" y="136"/>
                    <a:pt x="678" y="136"/>
                    <a:pt x="678" y="136"/>
                  </a:cubicBezTo>
                  <a:close/>
                  <a:moveTo>
                    <a:pt x="656" y="57"/>
                  </a:moveTo>
                  <a:cubicBezTo>
                    <a:pt x="669" y="60"/>
                    <a:pt x="669" y="60"/>
                    <a:pt x="669" y="60"/>
                  </a:cubicBezTo>
                  <a:cubicBezTo>
                    <a:pt x="668" y="62"/>
                    <a:pt x="668" y="62"/>
                    <a:pt x="668" y="62"/>
                  </a:cubicBezTo>
                  <a:cubicBezTo>
                    <a:pt x="665" y="62"/>
                    <a:pt x="662" y="62"/>
                    <a:pt x="660" y="63"/>
                  </a:cubicBezTo>
                  <a:cubicBezTo>
                    <a:pt x="658" y="64"/>
                    <a:pt x="657" y="67"/>
                    <a:pt x="656" y="70"/>
                  </a:cubicBezTo>
                  <a:cubicBezTo>
                    <a:pt x="655" y="73"/>
                    <a:pt x="655" y="73"/>
                    <a:pt x="655" y="73"/>
                  </a:cubicBezTo>
                  <a:cubicBezTo>
                    <a:pt x="693" y="82"/>
                    <a:pt x="693" y="82"/>
                    <a:pt x="693" y="82"/>
                  </a:cubicBezTo>
                  <a:cubicBezTo>
                    <a:pt x="696" y="83"/>
                    <a:pt x="698" y="83"/>
                    <a:pt x="699" y="82"/>
                  </a:cubicBezTo>
                  <a:cubicBezTo>
                    <a:pt x="700" y="81"/>
                    <a:pt x="701" y="80"/>
                    <a:pt x="702" y="77"/>
                  </a:cubicBezTo>
                  <a:cubicBezTo>
                    <a:pt x="704" y="78"/>
                    <a:pt x="704" y="78"/>
                    <a:pt x="704" y="78"/>
                  </a:cubicBezTo>
                  <a:cubicBezTo>
                    <a:pt x="697" y="106"/>
                    <a:pt x="697" y="106"/>
                    <a:pt x="697" y="106"/>
                  </a:cubicBezTo>
                  <a:cubicBezTo>
                    <a:pt x="695" y="106"/>
                    <a:pt x="695" y="106"/>
                    <a:pt x="695" y="106"/>
                  </a:cubicBezTo>
                  <a:cubicBezTo>
                    <a:pt x="696" y="103"/>
                    <a:pt x="696" y="102"/>
                    <a:pt x="695" y="100"/>
                  </a:cubicBezTo>
                  <a:cubicBezTo>
                    <a:pt x="694" y="99"/>
                    <a:pt x="692" y="98"/>
                    <a:pt x="690" y="98"/>
                  </a:cubicBezTo>
                  <a:cubicBezTo>
                    <a:pt x="652" y="89"/>
                    <a:pt x="652" y="89"/>
                    <a:pt x="652" y="89"/>
                  </a:cubicBezTo>
                  <a:cubicBezTo>
                    <a:pt x="651" y="92"/>
                    <a:pt x="651" y="92"/>
                    <a:pt x="651" y="92"/>
                  </a:cubicBezTo>
                  <a:cubicBezTo>
                    <a:pt x="650" y="96"/>
                    <a:pt x="651" y="98"/>
                    <a:pt x="652" y="100"/>
                  </a:cubicBezTo>
                  <a:cubicBezTo>
                    <a:pt x="653" y="102"/>
                    <a:pt x="655" y="104"/>
                    <a:pt x="658" y="105"/>
                  </a:cubicBezTo>
                  <a:cubicBezTo>
                    <a:pt x="658" y="107"/>
                    <a:pt x="658" y="107"/>
                    <a:pt x="658" y="107"/>
                  </a:cubicBezTo>
                  <a:cubicBezTo>
                    <a:pt x="645" y="104"/>
                    <a:pt x="645" y="104"/>
                    <a:pt x="645" y="104"/>
                  </a:cubicBezTo>
                  <a:cubicBezTo>
                    <a:pt x="656" y="57"/>
                    <a:pt x="656" y="57"/>
                    <a:pt x="656" y="57"/>
                  </a:cubicBezTo>
                  <a:close/>
                  <a:moveTo>
                    <a:pt x="684" y="17"/>
                  </a:moveTo>
                  <a:cubicBezTo>
                    <a:pt x="699" y="18"/>
                    <a:pt x="699" y="18"/>
                    <a:pt x="699" y="18"/>
                  </a:cubicBezTo>
                  <a:cubicBezTo>
                    <a:pt x="701" y="18"/>
                    <a:pt x="703" y="17"/>
                    <a:pt x="704" y="16"/>
                  </a:cubicBezTo>
                  <a:cubicBezTo>
                    <a:pt x="705" y="15"/>
                    <a:pt x="706" y="13"/>
                    <a:pt x="706" y="11"/>
                  </a:cubicBezTo>
                  <a:cubicBezTo>
                    <a:pt x="708" y="11"/>
                    <a:pt x="708" y="11"/>
                    <a:pt x="708" y="11"/>
                  </a:cubicBezTo>
                  <a:cubicBezTo>
                    <a:pt x="708" y="40"/>
                    <a:pt x="708" y="40"/>
                    <a:pt x="708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38"/>
                    <a:pt x="705" y="36"/>
                    <a:pt x="704" y="35"/>
                  </a:cubicBezTo>
                  <a:cubicBezTo>
                    <a:pt x="703" y="34"/>
                    <a:pt x="701" y="34"/>
                    <a:pt x="698" y="34"/>
                  </a:cubicBezTo>
                  <a:cubicBezTo>
                    <a:pt x="687" y="33"/>
                    <a:pt x="687" y="33"/>
                    <a:pt x="687" y="33"/>
                  </a:cubicBezTo>
                  <a:cubicBezTo>
                    <a:pt x="663" y="46"/>
                    <a:pt x="663" y="46"/>
                    <a:pt x="663" y="46"/>
                  </a:cubicBezTo>
                  <a:cubicBezTo>
                    <a:pt x="661" y="47"/>
                    <a:pt x="660" y="48"/>
                    <a:pt x="659" y="49"/>
                  </a:cubicBezTo>
                  <a:cubicBezTo>
                    <a:pt x="658" y="50"/>
                    <a:pt x="658" y="51"/>
                    <a:pt x="658" y="53"/>
                  </a:cubicBezTo>
                  <a:cubicBezTo>
                    <a:pt x="656" y="53"/>
                    <a:pt x="656" y="53"/>
                    <a:pt x="656" y="53"/>
                  </a:cubicBezTo>
                  <a:cubicBezTo>
                    <a:pt x="656" y="26"/>
                    <a:pt x="656" y="26"/>
                    <a:pt x="656" y="26"/>
                  </a:cubicBezTo>
                  <a:cubicBezTo>
                    <a:pt x="658" y="26"/>
                    <a:pt x="658" y="26"/>
                    <a:pt x="658" y="26"/>
                  </a:cubicBezTo>
                  <a:cubicBezTo>
                    <a:pt x="658" y="27"/>
                    <a:pt x="658" y="28"/>
                    <a:pt x="659" y="29"/>
                  </a:cubicBezTo>
                  <a:cubicBezTo>
                    <a:pt x="659" y="29"/>
                    <a:pt x="660" y="30"/>
                    <a:pt x="660" y="30"/>
                  </a:cubicBezTo>
                  <a:cubicBezTo>
                    <a:pt x="661" y="30"/>
                    <a:pt x="661" y="30"/>
                    <a:pt x="661" y="30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81" y="20"/>
                    <a:pt x="681" y="20"/>
                    <a:pt x="681" y="20"/>
                  </a:cubicBezTo>
                  <a:cubicBezTo>
                    <a:pt x="664" y="10"/>
                    <a:pt x="664" y="10"/>
                    <a:pt x="664" y="10"/>
                  </a:cubicBezTo>
                  <a:cubicBezTo>
                    <a:pt x="663" y="10"/>
                    <a:pt x="663" y="10"/>
                    <a:pt x="663" y="10"/>
                  </a:cubicBezTo>
                  <a:cubicBezTo>
                    <a:pt x="662" y="9"/>
                    <a:pt x="662" y="9"/>
                    <a:pt x="661" y="9"/>
                  </a:cubicBezTo>
                  <a:cubicBezTo>
                    <a:pt x="660" y="9"/>
                    <a:pt x="660" y="10"/>
                    <a:pt x="659" y="11"/>
                  </a:cubicBezTo>
                  <a:cubicBezTo>
                    <a:pt x="659" y="11"/>
                    <a:pt x="659" y="13"/>
                    <a:pt x="659" y="14"/>
                  </a:cubicBezTo>
                  <a:cubicBezTo>
                    <a:pt x="659" y="15"/>
                    <a:pt x="659" y="15"/>
                    <a:pt x="659" y="15"/>
                  </a:cubicBezTo>
                  <a:cubicBezTo>
                    <a:pt x="657" y="15"/>
                    <a:pt x="657" y="15"/>
                    <a:pt x="657" y="15"/>
                  </a:cubicBezTo>
                  <a:cubicBezTo>
                    <a:pt x="657" y="0"/>
                    <a:pt x="657" y="0"/>
                    <a:pt x="657" y="0"/>
                  </a:cubicBezTo>
                  <a:cubicBezTo>
                    <a:pt x="659" y="0"/>
                    <a:pt x="659" y="0"/>
                    <a:pt x="659" y="0"/>
                  </a:cubicBezTo>
                  <a:cubicBezTo>
                    <a:pt x="659" y="1"/>
                    <a:pt x="659" y="1"/>
                    <a:pt x="659" y="1"/>
                  </a:cubicBezTo>
                  <a:cubicBezTo>
                    <a:pt x="659" y="1"/>
                    <a:pt x="659" y="2"/>
                    <a:pt x="660" y="3"/>
                  </a:cubicBezTo>
                  <a:cubicBezTo>
                    <a:pt x="660" y="4"/>
                    <a:pt x="661" y="5"/>
                    <a:pt x="663" y="6"/>
                  </a:cubicBezTo>
                  <a:lnTo>
                    <a:pt x="684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íŝ1íḋe"/>
            <p:cNvSpPr/>
            <p:nvPr/>
          </p:nvSpPr>
          <p:spPr bwMode="auto">
            <a:xfrm>
              <a:off x="2840038" y="4119563"/>
              <a:ext cx="493713" cy="128588"/>
            </a:xfrm>
            <a:custGeom>
              <a:avLst/>
              <a:gdLst>
                <a:gd name="T0" fmla="*/ 0 w 150"/>
                <a:gd name="T1" fmla="*/ 36 h 39"/>
                <a:gd name="T2" fmla="*/ 9 w 150"/>
                <a:gd name="T3" fmla="*/ 33 h 39"/>
                <a:gd name="T4" fmla="*/ 8 w 150"/>
                <a:gd name="T5" fmla="*/ 7 h 39"/>
                <a:gd name="T6" fmla="*/ 3 w 150"/>
                <a:gd name="T7" fmla="*/ 7 h 39"/>
                <a:gd name="T8" fmla="*/ 1 w 150"/>
                <a:gd name="T9" fmla="*/ 5 h 39"/>
                <a:gd name="T10" fmla="*/ 17 w 150"/>
                <a:gd name="T11" fmla="*/ 0 h 39"/>
                <a:gd name="T12" fmla="*/ 19 w 150"/>
                <a:gd name="T13" fmla="*/ 33 h 39"/>
                <a:gd name="T14" fmla="*/ 28 w 150"/>
                <a:gd name="T15" fmla="*/ 36 h 39"/>
                <a:gd name="T16" fmla="*/ 21 w 150"/>
                <a:gd name="T17" fmla="*/ 38 h 39"/>
                <a:gd name="T18" fmla="*/ 6 w 150"/>
                <a:gd name="T19" fmla="*/ 38 h 39"/>
                <a:gd name="T20" fmla="*/ 0 w 150"/>
                <a:gd name="T21" fmla="*/ 38 h 39"/>
                <a:gd name="T22" fmla="*/ 46 w 150"/>
                <a:gd name="T23" fmla="*/ 24 h 39"/>
                <a:gd name="T24" fmla="*/ 48 w 150"/>
                <a:gd name="T25" fmla="*/ 34 h 39"/>
                <a:gd name="T26" fmla="*/ 61 w 150"/>
                <a:gd name="T27" fmla="*/ 34 h 39"/>
                <a:gd name="T28" fmla="*/ 60 w 150"/>
                <a:gd name="T29" fmla="*/ 25 h 39"/>
                <a:gd name="T30" fmla="*/ 51 w 150"/>
                <a:gd name="T31" fmla="*/ 21 h 39"/>
                <a:gd name="T32" fmla="*/ 60 w 150"/>
                <a:gd name="T33" fmla="*/ 12 h 39"/>
                <a:gd name="T34" fmla="*/ 59 w 150"/>
                <a:gd name="T35" fmla="*/ 4 h 39"/>
                <a:gd name="T36" fmla="*/ 48 w 150"/>
                <a:gd name="T37" fmla="*/ 4 h 39"/>
                <a:gd name="T38" fmla="*/ 49 w 150"/>
                <a:gd name="T39" fmla="*/ 11 h 39"/>
                <a:gd name="T40" fmla="*/ 56 w 150"/>
                <a:gd name="T41" fmla="*/ 15 h 39"/>
                <a:gd name="T42" fmla="*/ 41 w 150"/>
                <a:gd name="T43" fmla="*/ 15 h 39"/>
                <a:gd name="T44" fmla="*/ 43 w 150"/>
                <a:gd name="T45" fmla="*/ 3 h 39"/>
                <a:gd name="T46" fmla="*/ 65 w 150"/>
                <a:gd name="T47" fmla="*/ 3 h 39"/>
                <a:gd name="T48" fmla="*/ 67 w 150"/>
                <a:gd name="T49" fmla="*/ 13 h 39"/>
                <a:gd name="T50" fmla="*/ 68 w 150"/>
                <a:gd name="T51" fmla="*/ 21 h 39"/>
                <a:gd name="T52" fmla="*/ 66 w 150"/>
                <a:gd name="T53" fmla="*/ 36 h 39"/>
                <a:gd name="T54" fmla="*/ 41 w 150"/>
                <a:gd name="T55" fmla="*/ 36 h 39"/>
                <a:gd name="T56" fmla="*/ 39 w 150"/>
                <a:gd name="T57" fmla="*/ 23 h 39"/>
                <a:gd name="T58" fmla="*/ 47 w 150"/>
                <a:gd name="T59" fmla="*/ 19 h 39"/>
                <a:gd name="T60" fmla="*/ 80 w 150"/>
                <a:gd name="T61" fmla="*/ 33 h 39"/>
                <a:gd name="T62" fmla="*/ 87 w 150"/>
                <a:gd name="T63" fmla="*/ 36 h 39"/>
                <a:gd name="T64" fmla="*/ 100 w 150"/>
                <a:gd name="T65" fmla="*/ 20 h 39"/>
                <a:gd name="T66" fmla="*/ 95 w 150"/>
                <a:gd name="T67" fmla="*/ 25 h 39"/>
                <a:gd name="T68" fmla="*/ 79 w 150"/>
                <a:gd name="T69" fmla="*/ 23 h 39"/>
                <a:gd name="T70" fmla="*/ 81 w 150"/>
                <a:gd name="T71" fmla="*/ 4 h 39"/>
                <a:gd name="T72" fmla="*/ 105 w 150"/>
                <a:gd name="T73" fmla="*/ 5 h 39"/>
                <a:gd name="T74" fmla="*/ 108 w 150"/>
                <a:gd name="T75" fmla="*/ 26 h 39"/>
                <a:gd name="T76" fmla="*/ 96 w 150"/>
                <a:gd name="T77" fmla="*/ 38 h 39"/>
                <a:gd name="T78" fmla="*/ 81 w 150"/>
                <a:gd name="T79" fmla="*/ 38 h 39"/>
                <a:gd name="T80" fmla="*/ 77 w 150"/>
                <a:gd name="T81" fmla="*/ 36 h 39"/>
                <a:gd name="T82" fmla="*/ 98 w 150"/>
                <a:gd name="T83" fmla="*/ 19 h 39"/>
                <a:gd name="T84" fmla="*/ 98 w 150"/>
                <a:gd name="T85" fmla="*/ 6 h 39"/>
                <a:gd name="T86" fmla="*/ 87 w 150"/>
                <a:gd name="T87" fmla="*/ 6 h 39"/>
                <a:gd name="T88" fmla="*/ 88 w 150"/>
                <a:gd name="T89" fmla="*/ 19 h 39"/>
                <a:gd name="T90" fmla="*/ 93 w 150"/>
                <a:gd name="T91" fmla="*/ 21 h 39"/>
                <a:gd name="T92" fmla="*/ 128 w 150"/>
                <a:gd name="T93" fmla="*/ 20 h 39"/>
                <a:gd name="T94" fmla="*/ 129 w 150"/>
                <a:gd name="T95" fmla="*/ 33 h 39"/>
                <a:gd name="T96" fmla="*/ 139 w 150"/>
                <a:gd name="T97" fmla="*/ 34 h 39"/>
                <a:gd name="T98" fmla="*/ 139 w 150"/>
                <a:gd name="T99" fmla="*/ 21 h 39"/>
                <a:gd name="T100" fmla="*/ 133 w 150"/>
                <a:gd name="T101" fmla="*/ 18 h 39"/>
                <a:gd name="T102" fmla="*/ 146 w 150"/>
                <a:gd name="T103" fmla="*/ 6 h 39"/>
                <a:gd name="T104" fmla="*/ 139 w 150"/>
                <a:gd name="T105" fmla="*/ 4 h 39"/>
                <a:gd name="T106" fmla="*/ 126 w 150"/>
                <a:gd name="T107" fmla="*/ 19 h 39"/>
                <a:gd name="T108" fmla="*/ 131 w 150"/>
                <a:gd name="T109" fmla="*/ 15 h 39"/>
                <a:gd name="T110" fmla="*/ 147 w 150"/>
                <a:gd name="T111" fmla="*/ 16 h 39"/>
                <a:gd name="T112" fmla="*/ 146 w 150"/>
                <a:gd name="T113" fmla="*/ 35 h 39"/>
                <a:gd name="T114" fmla="*/ 121 w 150"/>
                <a:gd name="T115" fmla="*/ 35 h 39"/>
                <a:gd name="T116" fmla="*/ 118 w 150"/>
                <a:gd name="T117" fmla="*/ 13 h 39"/>
                <a:gd name="T118" fmla="*/ 130 w 150"/>
                <a:gd name="T119" fmla="*/ 2 h 39"/>
                <a:gd name="T120" fmla="*/ 145 w 150"/>
                <a:gd name="T121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" h="39">
                  <a:moveTo>
                    <a:pt x="0" y="38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4" y="36"/>
                    <a:pt x="6" y="36"/>
                    <a:pt x="8" y="35"/>
                  </a:cubicBezTo>
                  <a:cubicBezTo>
                    <a:pt x="9" y="35"/>
                    <a:pt x="9" y="34"/>
                    <a:pt x="9" y="33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8"/>
                    <a:pt x="8" y="7"/>
                  </a:cubicBezTo>
                  <a:cubicBezTo>
                    <a:pt x="8" y="7"/>
                    <a:pt x="7" y="7"/>
                    <a:pt x="5" y="7"/>
                  </a:cubicBezTo>
                  <a:cubicBezTo>
                    <a:pt x="5" y="7"/>
                    <a:pt x="4" y="7"/>
                    <a:pt x="3" y="7"/>
                  </a:cubicBezTo>
                  <a:cubicBezTo>
                    <a:pt x="2" y="7"/>
                    <a:pt x="2" y="7"/>
                    <a:pt x="1" y="7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4" y="4"/>
                    <a:pt x="7" y="4"/>
                    <a:pt x="9" y="3"/>
                  </a:cubicBezTo>
                  <a:cubicBezTo>
                    <a:pt x="12" y="3"/>
                    <a:pt x="14" y="2"/>
                    <a:pt x="17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4"/>
                    <a:pt x="20" y="35"/>
                    <a:pt x="21" y="35"/>
                  </a:cubicBezTo>
                  <a:cubicBezTo>
                    <a:pt x="22" y="36"/>
                    <a:pt x="24" y="36"/>
                    <a:pt x="28" y="36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6" y="38"/>
                    <a:pt x="23" y="38"/>
                    <a:pt x="21" y="38"/>
                  </a:cubicBezTo>
                  <a:cubicBezTo>
                    <a:pt x="19" y="38"/>
                    <a:pt x="16" y="38"/>
                    <a:pt x="14" y="38"/>
                  </a:cubicBezTo>
                  <a:cubicBezTo>
                    <a:pt x="11" y="38"/>
                    <a:pt x="8" y="38"/>
                    <a:pt x="6" y="38"/>
                  </a:cubicBezTo>
                  <a:cubicBezTo>
                    <a:pt x="4" y="38"/>
                    <a:pt x="2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lose/>
                  <a:moveTo>
                    <a:pt x="51" y="21"/>
                  </a:moveTo>
                  <a:cubicBezTo>
                    <a:pt x="49" y="22"/>
                    <a:pt x="48" y="23"/>
                    <a:pt x="46" y="24"/>
                  </a:cubicBezTo>
                  <a:cubicBezTo>
                    <a:pt x="45" y="26"/>
                    <a:pt x="45" y="27"/>
                    <a:pt x="45" y="28"/>
                  </a:cubicBezTo>
                  <a:cubicBezTo>
                    <a:pt x="45" y="31"/>
                    <a:pt x="46" y="32"/>
                    <a:pt x="48" y="34"/>
                  </a:cubicBezTo>
                  <a:cubicBezTo>
                    <a:pt x="50" y="35"/>
                    <a:pt x="52" y="36"/>
                    <a:pt x="55" y="36"/>
                  </a:cubicBezTo>
                  <a:cubicBezTo>
                    <a:pt x="57" y="36"/>
                    <a:pt x="59" y="36"/>
                    <a:pt x="61" y="34"/>
                  </a:cubicBezTo>
                  <a:cubicBezTo>
                    <a:pt x="62" y="33"/>
                    <a:pt x="63" y="32"/>
                    <a:pt x="63" y="30"/>
                  </a:cubicBezTo>
                  <a:cubicBezTo>
                    <a:pt x="63" y="28"/>
                    <a:pt x="62" y="27"/>
                    <a:pt x="60" y="25"/>
                  </a:cubicBezTo>
                  <a:cubicBezTo>
                    <a:pt x="58" y="24"/>
                    <a:pt x="55" y="23"/>
                    <a:pt x="51" y="21"/>
                  </a:cubicBezTo>
                  <a:cubicBezTo>
                    <a:pt x="51" y="21"/>
                    <a:pt x="51" y="21"/>
                    <a:pt x="51" y="21"/>
                  </a:cubicBezTo>
                  <a:close/>
                  <a:moveTo>
                    <a:pt x="56" y="15"/>
                  </a:moveTo>
                  <a:cubicBezTo>
                    <a:pt x="58" y="14"/>
                    <a:pt x="59" y="13"/>
                    <a:pt x="60" y="12"/>
                  </a:cubicBezTo>
                  <a:cubicBezTo>
                    <a:pt x="61" y="11"/>
                    <a:pt x="61" y="10"/>
                    <a:pt x="61" y="8"/>
                  </a:cubicBezTo>
                  <a:cubicBezTo>
                    <a:pt x="61" y="7"/>
                    <a:pt x="60" y="5"/>
                    <a:pt x="59" y="4"/>
                  </a:cubicBezTo>
                  <a:cubicBezTo>
                    <a:pt x="57" y="3"/>
                    <a:pt x="56" y="3"/>
                    <a:pt x="53" y="3"/>
                  </a:cubicBezTo>
                  <a:cubicBezTo>
                    <a:pt x="51" y="3"/>
                    <a:pt x="50" y="3"/>
                    <a:pt x="48" y="4"/>
                  </a:cubicBezTo>
                  <a:cubicBezTo>
                    <a:pt x="47" y="5"/>
                    <a:pt x="46" y="6"/>
                    <a:pt x="46" y="7"/>
                  </a:cubicBezTo>
                  <a:cubicBezTo>
                    <a:pt x="46" y="9"/>
                    <a:pt x="47" y="10"/>
                    <a:pt x="49" y="11"/>
                  </a:cubicBezTo>
                  <a:cubicBezTo>
                    <a:pt x="50" y="13"/>
                    <a:pt x="53" y="14"/>
                    <a:pt x="56" y="15"/>
                  </a:cubicBezTo>
                  <a:cubicBezTo>
                    <a:pt x="56" y="15"/>
                    <a:pt x="56" y="15"/>
                    <a:pt x="56" y="15"/>
                  </a:cubicBezTo>
                  <a:close/>
                  <a:moveTo>
                    <a:pt x="47" y="19"/>
                  </a:moveTo>
                  <a:cubicBezTo>
                    <a:pt x="44" y="18"/>
                    <a:pt x="42" y="16"/>
                    <a:pt x="41" y="15"/>
                  </a:cubicBezTo>
                  <a:cubicBezTo>
                    <a:pt x="39" y="13"/>
                    <a:pt x="39" y="12"/>
                    <a:pt x="39" y="10"/>
                  </a:cubicBezTo>
                  <a:cubicBezTo>
                    <a:pt x="39" y="7"/>
                    <a:pt x="40" y="5"/>
                    <a:pt x="43" y="3"/>
                  </a:cubicBezTo>
                  <a:cubicBezTo>
                    <a:pt x="46" y="1"/>
                    <a:pt x="50" y="0"/>
                    <a:pt x="55" y="0"/>
                  </a:cubicBezTo>
                  <a:cubicBezTo>
                    <a:pt x="59" y="0"/>
                    <a:pt x="62" y="1"/>
                    <a:pt x="65" y="3"/>
                  </a:cubicBezTo>
                  <a:cubicBezTo>
                    <a:pt x="67" y="4"/>
                    <a:pt x="69" y="6"/>
                    <a:pt x="69" y="8"/>
                  </a:cubicBezTo>
                  <a:cubicBezTo>
                    <a:pt x="69" y="10"/>
                    <a:pt x="68" y="11"/>
                    <a:pt x="67" y="13"/>
                  </a:cubicBezTo>
                  <a:cubicBezTo>
                    <a:pt x="65" y="14"/>
                    <a:pt x="63" y="15"/>
                    <a:pt x="60" y="17"/>
                  </a:cubicBezTo>
                  <a:cubicBezTo>
                    <a:pt x="64" y="18"/>
                    <a:pt x="66" y="20"/>
                    <a:pt x="68" y="21"/>
                  </a:cubicBezTo>
                  <a:cubicBezTo>
                    <a:pt x="70" y="23"/>
                    <a:pt x="71" y="25"/>
                    <a:pt x="71" y="28"/>
                  </a:cubicBezTo>
                  <a:cubicBezTo>
                    <a:pt x="71" y="31"/>
                    <a:pt x="69" y="34"/>
                    <a:pt x="66" y="36"/>
                  </a:cubicBezTo>
                  <a:cubicBezTo>
                    <a:pt x="63" y="38"/>
                    <a:pt x="59" y="39"/>
                    <a:pt x="54" y="39"/>
                  </a:cubicBezTo>
                  <a:cubicBezTo>
                    <a:pt x="48" y="39"/>
                    <a:pt x="44" y="38"/>
                    <a:pt x="41" y="36"/>
                  </a:cubicBezTo>
                  <a:cubicBezTo>
                    <a:pt x="38" y="34"/>
                    <a:pt x="36" y="32"/>
                    <a:pt x="36" y="29"/>
                  </a:cubicBezTo>
                  <a:cubicBezTo>
                    <a:pt x="36" y="27"/>
                    <a:pt x="37" y="25"/>
                    <a:pt x="39" y="23"/>
                  </a:cubicBezTo>
                  <a:cubicBezTo>
                    <a:pt x="40" y="22"/>
                    <a:pt x="43" y="20"/>
                    <a:pt x="47" y="19"/>
                  </a:cubicBezTo>
                  <a:cubicBezTo>
                    <a:pt x="47" y="19"/>
                    <a:pt x="47" y="19"/>
                    <a:pt x="47" y="19"/>
                  </a:cubicBezTo>
                  <a:close/>
                  <a:moveTo>
                    <a:pt x="77" y="36"/>
                  </a:moveTo>
                  <a:cubicBezTo>
                    <a:pt x="80" y="33"/>
                    <a:pt x="80" y="33"/>
                    <a:pt x="80" y="33"/>
                  </a:cubicBezTo>
                  <a:cubicBezTo>
                    <a:pt x="81" y="34"/>
                    <a:pt x="82" y="35"/>
                    <a:pt x="83" y="35"/>
                  </a:cubicBezTo>
                  <a:cubicBezTo>
                    <a:pt x="85" y="35"/>
                    <a:pt x="86" y="36"/>
                    <a:pt x="87" y="36"/>
                  </a:cubicBezTo>
                  <a:cubicBezTo>
                    <a:pt x="91" y="36"/>
                    <a:pt x="94" y="34"/>
                    <a:pt x="97" y="31"/>
                  </a:cubicBezTo>
                  <a:cubicBezTo>
                    <a:pt x="99" y="28"/>
                    <a:pt x="100" y="25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9" y="22"/>
                    <a:pt x="97" y="24"/>
                    <a:pt x="95" y="25"/>
                  </a:cubicBezTo>
                  <a:cubicBezTo>
                    <a:pt x="93" y="26"/>
                    <a:pt x="91" y="26"/>
                    <a:pt x="88" y="26"/>
                  </a:cubicBezTo>
                  <a:cubicBezTo>
                    <a:pt x="85" y="26"/>
                    <a:pt x="82" y="25"/>
                    <a:pt x="79" y="23"/>
                  </a:cubicBezTo>
                  <a:cubicBezTo>
                    <a:pt x="77" y="21"/>
                    <a:pt x="76" y="18"/>
                    <a:pt x="76" y="15"/>
                  </a:cubicBezTo>
                  <a:cubicBezTo>
                    <a:pt x="76" y="11"/>
                    <a:pt x="78" y="7"/>
                    <a:pt x="81" y="4"/>
                  </a:cubicBezTo>
                  <a:cubicBezTo>
                    <a:pt x="84" y="2"/>
                    <a:pt x="88" y="0"/>
                    <a:pt x="93" y="0"/>
                  </a:cubicBezTo>
                  <a:cubicBezTo>
                    <a:pt x="98" y="0"/>
                    <a:pt x="102" y="2"/>
                    <a:pt x="105" y="5"/>
                  </a:cubicBezTo>
                  <a:cubicBezTo>
                    <a:pt x="108" y="8"/>
                    <a:pt x="110" y="12"/>
                    <a:pt x="110" y="17"/>
                  </a:cubicBezTo>
                  <a:cubicBezTo>
                    <a:pt x="110" y="20"/>
                    <a:pt x="109" y="23"/>
                    <a:pt x="108" y="26"/>
                  </a:cubicBezTo>
                  <a:cubicBezTo>
                    <a:pt x="107" y="29"/>
                    <a:pt x="106" y="31"/>
                    <a:pt x="104" y="33"/>
                  </a:cubicBezTo>
                  <a:cubicBezTo>
                    <a:pt x="101" y="35"/>
                    <a:pt x="99" y="36"/>
                    <a:pt x="96" y="38"/>
                  </a:cubicBezTo>
                  <a:cubicBezTo>
                    <a:pt x="93" y="39"/>
                    <a:pt x="91" y="39"/>
                    <a:pt x="87" y="39"/>
                  </a:cubicBezTo>
                  <a:cubicBezTo>
                    <a:pt x="85" y="39"/>
                    <a:pt x="83" y="39"/>
                    <a:pt x="81" y="38"/>
                  </a:cubicBezTo>
                  <a:cubicBezTo>
                    <a:pt x="80" y="38"/>
                    <a:pt x="78" y="37"/>
                    <a:pt x="77" y="36"/>
                  </a:cubicBezTo>
                  <a:cubicBezTo>
                    <a:pt x="77" y="36"/>
                    <a:pt x="77" y="36"/>
                    <a:pt x="77" y="36"/>
                  </a:cubicBezTo>
                  <a:close/>
                  <a:moveTo>
                    <a:pt x="93" y="21"/>
                  </a:moveTo>
                  <a:cubicBezTo>
                    <a:pt x="95" y="21"/>
                    <a:pt x="97" y="21"/>
                    <a:pt x="98" y="19"/>
                  </a:cubicBezTo>
                  <a:cubicBezTo>
                    <a:pt x="99" y="18"/>
                    <a:pt x="100" y="16"/>
                    <a:pt x="100" y="14"/>
                  </a:cubicBezTo>
                  <a:cubicBezTo>
                    <a:pt x="100" y="11"/>
                    <a:pt x="99" y="8"/>
                    <a:pt x="98" y="6"/>
                  </a:cubicBezTo>
                  <a:cubicBezTo>
                    <a:pt x="96" y="4"/>
                    <a:pt x="94" y="3"/>
                    <a:pt x="92" y="3"/>
                  </a:cubicBezTo>
                  <a:cubicBezTo>
                    <a:pt x="90" y="3"/>
                    <a:pt x="88" y="4"/>
                    <a:pt x="87" y="6"/>
                  </a:cubicBezTo>
                  <a:cubicBezTo>
                    <a:pt x="86" y="7"/>
                    <a:pt x="86" y="9"/>
                    <a:pt x="86" y="12"/>
                  </a:cubicBezTo>
                  <a:cubicBezTo>
                    <a:pt x="86" y="15"/>
                    <a:pt x="87" y="17"/>
                    <a:pt x="88" y="19"/>
                  </a:cubicBezTo>
                  <a:cubicBezTo>
                    <a:pt x="89" y="21"/>
                    <a:pt x="91" y="21"/>
                    <a:pt x="93" y="21"/>
                  </a:cubicBezTo>
                  <a:cubicBezTo>
                    <a:pt x="93" y="21"/>
                    <a:pt x="93" y="21"/>
                    <a:pt x="93" y="21"/>
                  </a:cubicBezTo>
                  <a:close/>
                  <a:moveTo>
                    <a:pt x="133" y="18"/>
                  </a:moveTo>
                  <a:cubicBezTo>
                    <a:pt x="131" y="18"/>
                    <a:pt x="130" y="19"/>
                    <a:pt x="128" y="20"/>
                  </a:cubicBezTo>
                  <a:cubicBezTo>
                    <a:pt x="127" y="21"/>
                    <a:pt x="127" y="23"/>
                    <a:pt x="127" y="25"/>
                  </a:cubicBezTo>
                  <a:cubicBezTo>
                    <a:pt x="127" y="29"/>
                    <a:pt x="127" y="31"/>
                    <a:pt x="129" y="33"/>
                  </a:cubicBezTo>
                  <a:cubicBezTo>
                    <a:pt x="130" y="35"/>
                    <a:pt x="132" y="36"/>
                    <a:pt x="134" y="36"/>
                  </a:cubicBezTo>
                  <a:cubicBezTo>
                    <a:pt x="136" y="36"/>
                    <a:pt x="138" y="35"/>
                    <a:pt x="139" y="34"/>
                  </a:cubicBezTo>
                  <a:cubicBezTo>
                    <a:pt x="140" y="33"/>
                    <a:pt x="140" y="31"/>
                    <a:pt x="140" y="28"/>
                  </a:cubicBezTo>
                  <a:cubicBezTo>
                    <a:pt x="140" y="25"/>
                    <a:pt x="140" y="22"/>
                    <a:pt x="139" y="21"/>
                  </a:cubicBezTo>
                  <a:cubicBezTo>
                    <a:pt x="137" y="19"/>
                    <a:pt x="136" y="18"/>
                    <a:pt x="133" y="18"/>
                  </a:cubicBezTo>
                  <a:cubicBezTo>
                    <a:pt x="133" y="18"/>
                    <a:pt x="133" y="18"/>
                    <a:pt x="133" y="18"/>
                  </a:cubicBezTo>
                  <a:close/>
                  <a:moveTo>
                    <a:pt x="150" y="4"/>
                  </a:moveTo>
                  <a:cubicBezTo>
                    <a:pt x="146" y="6"/>
                    <a:pt x="146" y="6"/>
                    <a:pt x="146" y="6"/>
                  </a:cubicBezTo>
                  <a:cubicBezTo>
                    <a:pt x="145" y="5"/>
                    <a:pt x="144" y="5"/>
                    <a:pt x="143" y="5"/>
                  </a:cubicBezTo>
                  <a:cubicBezTo>
                    <a:pt x="142" y="4"/>
                    <a:pt x="141" y="4"/>
                    <a:pt x="139" y="4"/>
                  </a:cubicBezTo>
                  <a:cubicBezTo>
                    <a:pt x="135" y="4"/>
                    <a:pt x="132" y="5"/>
                    <a:pt x="130" y="8"/>
                  </a:cubicBezTo>
                  <a:cubicBezTo>
                    <a:pt x="127" y="11"/>
                    <a:pt x="126" y="15"/>
                    <a:pt x="126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7"/>
                    <a:pt x="129" y="16"/>
                    <a:pt x="131" y="15"/>
                  </a:cubicBezTo>
                  <a:cubicBezTo>
                    <a:pt x="133" y="14"/>
                    <a:pt x="135" y="13"/>
                    <a:pt x="138" y="13"/>
                  </a:cubicBezTo>
                  <a:cubicBezTo>
                    <a:pt x="142" y="13"/>
                    <a:pt x="145" y="14"/>
                    <a:pt x="147" y="16"/>
                  </a:cubicBezTo>
                  <a:cubicBezTo>
                    <a:pt x="149" y="18"/>
                    <a:pt x="150" y="21"/>
                    <a:pt x="150" y="25"/>
                  </a:cubicBezTo>
                  <a:cubicBezTo>
                    <a:pt x="150" y="29"/>
                    <a:pt x="149" y="32"/>
                    <a:pt x="146" y="35"/>
                  </a:cubicBezTo>
                  <a:cubicBezTo>
                    <a:pt x="143" y="38"/>
                    <a:pt x="139" y="39"/>
                    <a:pt x="134" y="39"/>
                  </a:cubicBezTo>
                  <a:cubicBezTo>
                    <a:pt x="128" y="39"/>
                    <a:pt x="124" y="38"/>
                    <a:pt x="121" y="35"/>
                  </a:cubicBezTo>
                  <a:cubicBezTo>
                    <a:pt x="118" y="32"/>
                    <a:pt x="116" y="27"/>
                    <a:pt x="116" y="22"/>
                  </a:cubicBezTo>
                  <a:cubicBezTo>
                    <a:pt x="116" y="19"/>
                    <a:pt x="117" y="16"/>
                    <a:pt x="118" y="13"/>
                  </a:cubicBezTo>
                  <a:cubicBezTo>
                    <a:pt x="119" y="11"/>
                    <a:pt x="121" y="9"/>
                    <a:pt x="123" y="7"/>
                  </a:cubicBezTo>
                  <a:cubicBezTo>
                    <a:pt x="125" y="5"/>
                    <a:pt x="127" y="3"/>
                    <a:pt x="130" y="2"/>
                  </a:cubicBezTo>
                  <a:cubicBezTo>
                    <a:pt x="133" y="1"/>
                    <a:pt x="136" y="0"/>
                    <a:pt x="139" y="0"/>
                  </a:cubicBezTo>
                  <a:cubicBezTo>
                    <a:pt x="141" y="0"/>
                    <a:pt x="143" y="1"/>
                    <a:pt x="145" y="1"/>
                  </a:cubicBezTo>
                  <a:cubicBezTo>
                    <a:pt x="147" y="2"/>
                    <a:pt x="148" y="3"/>
                    <a:pt x="15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iṩ1íďé"/>
            <p:cNvSpPr/>
            <p:nvPr/>
          </p:nvSpPr>
          <p:spPr bwMode="auto">
            <a:xfrm>
              <a:off x="2190751" y="2551113"/>
              <a:ext cx="1754188" cy="1651000"/>
            </a:xfrm>
            <a:custGeom>
              <a:avLst/>
              <a:gdLst>
                <a:gd name="T0" fmla="*/ 266 w 532"/>
                <a:gd name="T1" fmla="*/ 0 h 500"/>
                <a:gd name="T2" fmla="*/ 532 w 532"/>
                <a:gd name="T3" fmla="*/ 266 h 500"/>
                <a:gd name="T4" fmla="*/ 395 w 532"/>
                <a:gd name="T5" fmla="*/ 500 h 500"/>
                <a:gd name="T6" fmla="*/ 389 w 532"/>
                <a:gd name="T7" fmla="*/ 489 h 500"/>
                <a:gd name="T8" fmla="*/ 521 w 532"/>
                <a:gd name="T9" fmla="*/ 266 h 500"/>
                <a:gd name="T10" fmla="*/ 266 w 532"/>
                <a:gd name="T11" fmla="*/ 12 h 500"/>
                <a:gd name="T12" fmla="*/ 11 w 532"/>
                <a:gd name="T13" fmla="*/ 266 h 500"/>
                <a:gd name="T14" fmla="*/ 144 w 532"/>
                <a:gd name="T15" fmla="*/ 490 h 500"/>
                <a:gd name="T16" fmla="*/ 139 w 532"/>
                <a:gd name="T17" fmla="*/ 500 h 500"/>
                <a:gd name="T18" fmla="*/ 0 w 532"/>
                <a:gd name="T19" fmla="*/ 266 h 500"/>
                <a:gd name="T20" fmla="*/ 266 w 532"/>
                <a:gd name="T21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2" h="500">
                  <a:moveTo>
                    <a:pt x="266" y="0"/>
                  </a:moveTo>
                  <a:cubicBezTo>
                    <a:pt x="413" y="0"/>
                    <a:pt x="532" y="120"/>
                    <a:pt x="532" y="266"/>
                  </a:cubicBezTo>
                  <a:cubicBezTo>
                    <a:pt x="532" y="367"/>
                    <a:pt x="477" y="454"/>
                    <a:pt x="395" y="500"/>
                  </a:cubicBezTo>
                  <a:cubicBezTo>
                    <a:pt x="389" y="489"/>
                    <a:pt x="389" y="489"/>
                    <a:pt x="389" y="489"/>
                  </a:cubicBezTo>
                  <a:cubicBezTo>
                    <a:pt x="468" y="446"/>
                    <a:pt x="521" y="362"/>
                    <a:pt x="521" y="266"/>
                  </a:cubicBezTo>
                  <a:cubicBezTo>
                    <a:pt x="521" y="126"/>
                    <a:pt x="407" y="12"/>
                    <a:pt x="266" y="12"/>
                  </a:cubicBezTo>
                  <a:cubicBezTo>
                    <a:pt x="126" y="12"/>
                    <a:pt x="11" y="126"/>
                    <a:pt x="11" y="266"/>
                  </a:cubicBezTo>
                  <a:cubicBezTo>
                    <a:pt x="11" y="363"/>
                    <a:pt x="65" y="447"/>
                    <a:pt x="144" y="490"/>
                  </a:cubicBezTo>
                  <a:cubicBezTo>
                    <a:pt x="139" y="500"/>
                    <a:pt x="139" y="500"/>
                    <a:pt x="139" y="500"/>
                  </a:cubicBezTo>
                  <a:cubicBezTo>
                    <a:pt x="56" y="455"/>
                    <a:pt x="0" y="367"/>
                    <a:pt x="0" y="266"/>
                  </a:cubicBezTo>
                  <a:cubicBezTo>
                    <a:pt x="0" y="120"/>
                    <a:pt x="120" y="0"/>
                    <a:pt x="26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313342" y="412399"/>
            <a:ext cx="687563" cy="687563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 userDrawn="1"/>
        </p:nvCxnSpPr>
        <p:spPr>
          <a:xfrm>
            <a:off x="654023" y="1130300"/>
            <a:ext cx="0" cy="4041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660344" y="5172075"/>
            <a:ext cx="1" cy="169040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 userDrawn="1"/>
        </p:nvSpPr>
        <p:spPr>
          <a:xfrm>
            <a:off x="10872316" y="5535568"/>
            <a:ext cx="1319684" cy="1322432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3" b="55096"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3" b="55096"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1515585" y="2604052"/>
            <a:ext cx="3072650" cy="23166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2"/>
          </p:nvPr>
        </p:nvSpPr>
        <p:spPr>
          <a:xfrm>
            <a:off x="4588235" y="2604053"/>
            <a:ext cx="3072650" cy="23166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0" name="图片占位符 29"/>
          <p:cNvSpPr>
            <a:spLocks noGrp="1"/>
          </p:cNvSpPr>
          <p:nvPr>
            <p:ph type="pic" sz="quarter" idx="13"/>
          </p:nvPr>
        </p:nvSpPr>
        <p:spPr>
          <a:xfrm>
            <a:off x="7635701" y="2604053"/>
            <a:ext cx="3072650" cy="23166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3" b="55096"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1077966" y="1647055"/>
            <a:ext cx="3505504" cy="448704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3" b="55096"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2"/>
          </p:nvPr>
        </p:nvSpPr>
        <p:spPr>
          <a:xfrm>
            <a:off x="5481" y="1979880"/>
            <a:ext cx="3136900" cy="2247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3" b="55096"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207565" y="2828178"/>
            <a:ext cx="3776870" cy="214685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3" b="55096"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1683830" y="1971819"/>
            <a:ext cx="2003744" cy="125234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3" b="55096"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406254" y="1701000"/>
            <a:ext cx="3456000" cy="3456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3" b="55096"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0" y="1130301"/>
            <a:ext cx="12192000" cy="240258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4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1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5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6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7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25" name="图片 2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3" b="55096"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sp>
        <p:nvSpPr>
          <p:cNvPr id="26" name="文本占位符 3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87196" y="340254"/>
            <a:ext cx="3748209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4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1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5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6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7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25" name="图片 2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3" b="55096"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sp>
        <p:nvSpPr>
          <p:cNvPr id="26" name="文本占位符 3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87196" y="340254"/>
            <a:ext cx="3748209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图片占位符 2"/>
          <p:cNvSpPr>
            <a:spLocks noGrp="1"/>
          </p:cNvSpPr>
          <p:nvPr>
            <p:ph type="pic" sz="quarter" idx="12"/>
          </p:nvPr>
        </p:nvSpPr>
        <p:spPr>
          <a:xfrm>
            <a:off x="6151925" y="2036531"/>
            <a:ext cx="6785436" cy="398103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3"/>
          </p:nvPr>
        </p:nvSpPr>
        <p:spPr>
          <a:xfrm>
            <a:off x="3378574" y="2525156"/>
            <a:ext cx="4084674" cy="190211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idx="13"/>
          </p:nvPr>
        </p:nvSpPr>
        <p:spPr>
          <a:xfrm>
            <a:off x="372253" y="10887"/>
            <a:ext cx="9759697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idx="13"/>
          </p:nvPr>
        </p:nvSpPr>
        <p:spPr>
          <a:xfrm>
            <a:off x="838200" y="0"/>
            <a:ext cx="5098694" cy="685150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图片占位符 69"/>
          <p:cNvSpPr>
            <a:spLocks noGrp="1"/>
          </p:cNvSpPr>
          <p:nvPr>
            <p:ph type="pic" sz="quarter" idx="12"/>
          </p:nvPr>
        </p:nvSpPr>
        <p:spPr>
          <a:xfrm>
            <a:off x="5764211" y="2590167"/>
            <a:ext cx="6427787" cy="42370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4" name="图片占位符 23"/>
          <p:cNvSpPr>
            <a:spLocks noGrp="1"/>
          </p:cNvSpPr>
          <p:nvPr>
            <p:ph type="pic" sz="quarter" idx="11"/>
          </p:nvPr>
        </p:nvSpPr>
        <p:spPr>
          <a:xfrm>
            <a:off x="0" y="2495268"/>
            <a:ext cx="5764212" cy="4331936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5" name="图片占位符 34"/>
          <p:cNvSpPr>
            <a:spLocks noGrp="1"/>
          </p:cNvSpPr>
          <p:nvPr>
            <p:ph type="pic" sz="quarter" idx="10"/>
          </p:nvPr>
        </p:nvSpPr>
        <p:spPr>
          <a:xfrm>
            <a:off x="-1" y="1"/>
            <a:ext cx="12191999" cy="4064780"/>
          </a:xfrm>
          <a:custGeom>
            <a:avLst/>
            <a:gdLst>
              <a:gd name="connsiteX0" fmla="*/ 0 w 12179402"/>
              <a:gd name="connsiteY0" fmla="*/ 0 h 4062881"/>
              <a:gd name="connsiteX1" fmla="*/ 12179402 w 12179402"/>
              <a:gd name="connsiteY1" fmla="*/ 0 h 4062881"/>
              <a:gd name="connsiteX2" fmla="*/ 12179402 w 12179402"/>
              <a:gd name="connsiteY2" fmla="*/ 2622353 h 4062881"/>
              <a:gd name="connsiteX3" fmla="*/ 6086489 w 12179402"/>
              <a:gd name="connsiteY3" fmla="*/ 4062881 h 4062881"/>
              <a:gd name="connsiteX4" fmla="*/ 7922 w 12179402"/>
              <a:gd name="connsiteY4" fmla="*/ 2621254 h 4062881"/>
              <a:gd name="connsiteX5" fmla="*/ 0 w 12179402"/>
              <a:gd name="connsiteY5" fmla="*/ 2621254 h 4062881"/>
              <a:gd name="connsiteX6" fmla="*/ 0 w 12179402"/>
              <a:gd name="connsiteY6" fmla="*/ 2619375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9402" h="4062881">
                <a:moveTo>
                  <a:pt x="0" y="0"/>
                </a:moveTo>
                <a:lnTo>
                  <a:pt x="12179402" y="0"/>
                </a:lnTo>
                <a:lnTo>
                  <a:pt x="12179402" y="2622353"/>
                </a:lnTo>
                <a:lnTo>
                  <a:pt x="6086489" y="4062881"/>
                </a:lnTo>
                <a:lnTo>
                  <a:pt x="7922" y="2621254"/>
                </a:lnTo>
                <a:lnTo>
                  <a:pt x="0" y="2621254"/>
                </a:lnTo>
                <a:lnTo>
                  <a:pt x="0" y="26193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Microsoft YaHei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Microsoft YaHei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Microsoft YaHei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Microsoft YaHei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Microsoft YaHei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Microsoft YaHei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Microsoft YaHei" charset="0"/>
              <a:cs typeface="Segoe UI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5.png"/><Relationship Id="rId2" Type="http://schemas.openxmlformats.org/officeDocument/2006/relationships/image" Target="../media/image24.webp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hyperlink" Target="https://arxiv.org/html/2410.07073v2" TargetMode="External"/><Relationship Id="rId8" Type="http://schemas.openxmlformats.org/officeDocument/2006/relationships/hyperlink" Target="https://github.com/meta-llama/llama-models/blob/main/models/llama4/MODEL_CARD.md" TargetMode="External"/><Relationship Id="rId7" Type="http://schemas.openxmlformats.org/officeDocument/2006/relationships/hyperlink" Target="https://arxiv.org/html/2503.01743v2" TargetMode="External"/><Relationship Id="rId6" Type="http://schemas.openxmlformats.org/officeDocument/2006/relationships/hyperlink" Target="https://github.com/OpenBMB/MiniCPM-V" TargetMode="External"/><Relationship Id="rId5" Type="http://schemas.openxmlformats.org/officeDocument/2006/relationships/hyperlink" Target="https://huggingface.co/blog/smolvlm2" TargetMode="External"/><Relationship Id="rId4" Type="http://schemas.openxmlformats.org/officeDocument/2006/relationships/hyperlink" Target="https://allenai.org/blog/molmo2" TargetMode="External"/><Relationship Id="rId3" Type="http://schemas.openxmlformats.org/officeDocument/2006/relationships/hyperlink" Target="https://llava-vl.github.io/blog/2024-08-05-llava-onevision/" TargetMode="External"/><Relationship Id="rId2" Type="http://schemas.openxmlformats.org/officeDocument/2006/relationships/hyperlink" Target="https://internvl.github.io/blog/2025-08-26-InternVL-3.5/" TargetMode="External"/><Relationship Id="rId10" Type="http://schemas.openxmlformats.org/officeDocument/2006/relationships/slideLayout" Target="../slideLayouts/slideLayout3.xml"/><Relationship Id="rId1" Type="http://schemas.openxmlformats.org/officeDocument/2006/relationships/hyperlink" Target="https://github.com/QwenLM/Qwen3-VL" TargetMode="Externa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32.png"/><Relationship Id="rId7" Type="http://schemas.openxmlformats.org/officeDocument/2006/relationships/hyperlink" Target="https://ai.google.dev/gemma/docs/core/model_card_4" TargetMode="External"/><Relationship Id="rId6" Type="http://schemas.openxmlformats.org/officeDocument/2006/relationships/hyperlink" Target="https://arxiv.org/abs/2503.19786" TargetMode="External"/><Relationship Id="rId5" Type="http://schemas.openxmlformats.org/officeDocument/2006/relationships/hyperlink" Target="https://arxiv.org/abs/2412.03555" TargetMode="External"/><Relationship Id="rId4" Type="http://schemas.openxmlformats.org/officeDocument/2006/relationships/hyperlink" Target="https://arxiv.org/abs/2407.07726" TargetMode="External"/><Relationship Id="rId3" Type="http://schemas.openxmlformats.org/officeDocument/2006/relationships/hyperlink" Target="https://arxiv.org/abs/2310.09199" TargetMode="External"/><Relationship Id="rId2" Type="http://schemas.openxmlformats.org/officeDocument/2006/relationships/hyperlink" Target="https://arxiv.org/abs/2305.18565" TargetMode="External"/><Relationship Id="rId1" Type="http://schemas.openxmlformats.org/officeDocument/2006/relationships/hyperlink" Target="https://arxiv.org/abs/2209.06794" TargetMode="Externa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3.xml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494790" y="0"/>
            <a:ext cx="9988550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5400"/>
              <a:t>20260914</a:t>
            </a:r>
            <a:endParaRPr lang="zh-CN" altLang="en-US" sz="5400"/>
          </a:p>
          <a:p>
            <a:r>
              <a:rPr lang="zh-CN" altLang="en-US" sz="5400"/>
              <a:t>主要有以下几个点：</a:t>
            </a:r>
            <a:endParaRPr lang="zh-CN" altLang="en-US" sz="5400"/>
          </a:p>
          <a:p>
            <a:r>
              <a:rPr lang="en-US" altLang="zh-CN" sz="5400"/>
              <a:t>- Roofline model </a:t>
            </a:r>
            <a:endParaRPr lang="en-US" altLang="zh-CN" sz="5400"/>
          </a:p>
          <a:p>
            <a:r>
              <a:rPr lang="en-US" altLang="zh-CN" sz="5400"/>
              <a:t>- *parallel FSDP(ZeRO)</a:t>
            </a:r>
            <a:endParaRPr lang="en-US" altLang="zh-CN" sz="5400"/>
          </a:p>
          <a:p>
            <a:r>
              <a:rPr lang="en-US" altLang="zh-CN" sz="5400"/>
              <a:t>- DM</a:t>
            </a:r>
            <a:endParaRPr lang="en-US" altLang="zh-CN" sz="5400"/>
          </a:p>
          <a:p>
            <a:r>
              <a:rPr lang="en-US" altLang="zh-CN" sz="5400"/>
              <a:t>- VLA espically pi0 0.5</a:t>
            </a:r>
            <a:endParaRPr lang="en-US" altLang="zh-CN" sz="5400"/>
          </a:p>
          <a:p>
            <a:r>
              <a:rPr lang="en-US" altLang="zh-CN" sz="5400"/>
              <a:t>- some questions </a:t>
            </a:r>
            <a:endParaRPr lang="en-US" altLang="zh-CN" sz="5400"/>
          </a:p>
          <a:p>
            <a:endParaRPr lang="en-US" altLang="zh-CN"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780" y="0"/>
            <a:ext cx="8356600" cy="68586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417560" y="0"/>
            <a:ext cx="3774440" cy="1825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28625" y="408305"/>
            <a:ext cx="454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1</a:t>
            </a:r>
            <a:endParaRPr 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2026-09-07-22-17-20-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135" y="270510"/>
            <a:ext cx="5340350" cy="2694940"/>
          </a:xfrm>
          <a:prstGeom prst="rect">
            <a:avLst/>
          </a:prstGeom>
        </p:spPr>
      </p:pic>
      <p:pic>
        <p:nvPicPr>
          <p:cNvPr id="4" name="Picture 3" descr="2026-09-07-22-52-53-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135" y="3735705"/>
            <a:ext cx="5162550" cy="27260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50850" y="467360"/>
            <a:ext cx="647700" cy="518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/>
              <a:t>2</a:t>
            </a:r>
            <a:endParaRPr lang="en-US" sz="3200"/>
          </a:p>
        </p:txBody>
      </p:sp>
      <p:sp>
        <p:nvSpPr>
          <p:cNvPr id="7" name="Text Box 6"/>
          <p:cNvSpPr txBox="1"/>
          <p:nvPr/>
        </p:nvSpPr>
        <p:spPr>
          <a:xfrm>
            <a:off x="6932295" y="711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正常的现代架构的算力单元的</a:t>
            </a:r>
            <a:r>
              <a:rPr lang="en-US" altLang="zh-CN"/>
              <a:t>topo 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" y="0"/>
            <a:ext cx="5838190" cy="31362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145" y="3429000"/>
            <a:ext cx="5662930" cy="314261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25" y="26035"/>
            <a:ext cx="4737100" cy="31102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625" y="3085465"/>
            <a:ext cx="4893945" cy="3772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207645"/>
            <a:ext cx="5300345" cy="576453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884920" y="1431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399020" y="878205"/>
            <a:ext cx="4064000" cy="1035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125" y="207645"/>
            <a:ext cx="5256530" cy="576453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98500" y="61264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diff in fsdp of pytorch: full_shared shared_grad_op no_shared and so on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207125" y="6126480"/>
            <a:ext cx="5908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backword_prefetch and none_backword_prefetch 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2355" cy="4964430"/>
          </a:xfrm>
          <a:prstGeom prst="rect">
            <a:avLst/>
          </a:prstGeom>
        </p:spPr>
      </p:pic>
      <p:pic>
        <p:nvPicPr>
          <p:cNvPr id="9" name="Picture 8" descr="截屏2026-09-15 01.17.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355" y="0"/>
            <a:ext cx="3192780" cy="496443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956425" y="234315"/>
            <a:ext cx="48355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Qwen2.5 Technical Report</a:t>
            </a:r>
            <a:endParaRPr lang="en-US" altLang="en-US"/>
          </a:p>
          <a:p>
            <a:r>
              <a:rPr lang="en-US" altLang="en-US"/>
              <a:t>https://huggingface.co/Qwen</a:t>
            </a:r>
            <a:endParaRPr lang="en-US" altLang="en-US"/>
          </a:p>
          <a:p>
            <a:r>
              <a:rPr lang="en-US" altLang="en-US"/>
              <a:t>https://modelscope.cn/organization/qwen</a:t>
            </a:r>
            <a:endParaRPr lang="en-US" altLang="en-US"/>
          </a:p>
          <a:p>
            <a:r>
              <a:rPr lang="en-US" altLang="en-US"/>
              <a:t>https://github.com/QwenLM/Qwen2.5</a:t>
            </a:r>
            <a:endParaRPr lang="en-US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29200"/>
            <a:ext cx="6816725" cy="1893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截屏2026-09-15 00.41.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" y="0"/>
            <a:ext cx="9472295" cy="451040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394460" y="4606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Qwen2 0.5B full_shared_pre nsys-gui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125710" cy="6858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012571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full_pre traces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8565" y="0"/>
            <a:ext cx="6287770" cy="689673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748905" y="52641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为了研究不同的</a:t>
            </a:r>
            <a:r>
              <a:rPr lang="en-US" altLang="zh-CN"/>
              <a:t>para strategy </a:t>
            </a:r>
            <a:r>
              <a:rPr lang="zh-CN" altLang="en-US"/>
              <a:t>和一些妙妙小技术</a:t>
            </a:r>
            <a:r>
              <a:rPr lang="en-US" altLang="zh-CN"/>
              <a:t> 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一些实验结果</a:t>
            </a:r>
            <a:r>
              <a:rPr lang="en-US" altLang="zh-CN"/>
              <a:t> 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实验环境还是之前那个</a:t>
            </a:r>
            <a:r>
              <a:rPr lang="en-US" altLang="zh-CN"/>
              <a:t>0.5b</a:t>
            </a:r>
            <a:r>
              <a:rPr lang="zh-CN" altLang="en-US"/>
              <a:t>的环境</a:t>
            </a:r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1271905" y="0"/>
          <a:ext cx="10801985" cy="2926715"/>
        </p:xfrm>
        <a:graphic>
          <a:graphicData uri="http://schemas.openxmlformats.org/drawingml/2006/table">
            <a:tbl>
              <a:tblPr/>
              <a:tblGrid>
                <a:gridCol w="2000885"/>
                <a:gridCol w="1784350"/>
                <a:gridCol w="3061970"/>
                <a:gridCol w="2428875"/>
                <a:gridCol w="1525905"/>
              </a:tblGrid>
              <a:tr h="588645">
                <a:tc>
                  <a:txBody>
                    <a:bodyPr/>
                    <a:p>
                      <a:r>
                        <a:rPr lang="zh-CN" altLang="en-US" sz="1600"/>
                        <a:t>策略</a:t>
                      </a:r>
                      <a:r>
                        <a:rPr lang="en-US" altLang="zh-CN" sz="1600"/>
                        <a:t> 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en-US" sz="1600"/>
                        <a:t>window_step_ms</a:t>
                      </a:r>
                      <a:r>
                        <a:rPr lang="zh-CN" altLang="en-US" sz="1600"/>
                        <a:t> </a:t>
                      </a:r>
                      <a:r>
                        <a:rPr lang="en-US" altLang="zh-CN" sz="1600"/>
                        <a:t>↓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en-US" sz="1600"/>
                        <a:t>global_input_tokens_per_second</a:t>
                      </a:r>
                      <a:r>
                        <a:rPr lang="en-US" altLang="zh-CN" sz="1600"/>
                        <a:t> ↑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en-US" sz="1600"/>
                        <a:t>max_peak_allocated_gib</a:t>
                      </a:r>
                      <a:r>
                        <a:rPr lang="en-US" altLang="zh-CN" sz="1600"/>
                        <a:t> ↓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en-US" sz="1600"/>
                        <a:t>max_peak_reserved_gib</a:t>
                      </a:r>
                      <a:endParaRPr lang="en-US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645">
                <a:tc>
                  <a:txBody>
                    <a:bodyPr/>
                    <a:p>
                      <a:r>
                        <a:rPr lang="en-US" altLang="zh-CN" sz="1600"/>
                        <a:t>DDP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88.05 ms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23,260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11.75 GiB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12.74 GiB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645">
                <a:tc>
                  <a:txBody>
                    <a:bodyPr/>
                    <a:p>
                      <a:r>
                        <a:rPr lang="en-US" altLang="zh-CN" sz="1600"/>
                        <a:t>SHARD_GRAD_OP + PRE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108.52 ms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18,873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6.87 GiB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9.68 GiB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2135">
                <a:tc>
                  <a:txBody>
                    <a:bodyPr/>
                    <a:p>
                      <a:r>
                        <a:rPr lang="en-US" altLang="zh-CN" sz="1600"/>
                        <a:t>FULL_SHARD + NONE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117.46 ms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17,436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6.21 GiB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9.21 GiB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645">
                <a:tc>
                  <a:txBody>
                    <a:bodyPr/>
                    <a:p>
                      <a:r>
                        <a:rPr lang="en-US" altLang="zh-CN" sz="1600"/>
                        <a:t>FULL_SHARD + PRE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117.73 ms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17,395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6.23 GiB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9.23 GiB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1271905" y="3166745"/>
            <a:ext cx="98139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1 FULL_SHARD </a:t>
            </a:r>
            <a:r>
              <a:rPr lang="zh-CN" altLang="en-US"/>
              <a:t>的显存收益很明显</a:t>
            </a:r>
            <a:endParaRPr lang="zh-CN" altLang="en-US"/>
          </a:p>
          <a:p>
            <a:r>
              <a:rPr lang="en-US" altLang="zh-CN"/>
              <a:t>2 </a:t>
            </a:r>
            <a:r>
              <a:rPr lang="en-US" altLang="en-US"/>
              <a:t>SHARD_GRAD_OP </a:t>
            </a:r>
            <a:r>
              <a:rPr lang="zh-CN" altLang="en-US"/>
              <a:t>提供了中间取舍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3 </a:t>
            </a:r>
            <a:r>
              <a:rPr lang="en-US" altLang="en-US"/>
              <a:t>PRE </a:t>
            </a:r>
            <a:r>
              <a:rPr lang="zh-CN" altLang="en-US"/>
              <a:t>效果不明显</a:t>
            </a:r>
            <a:r>
              <a:rPr lang="en-US" altLang="zh-CN"/>
              <a:t> </a:t>
            </a:r>
            <a:endParaRPr lang="en-US" altLang="zh-CN"/>
          </a:p>
        </p:txBody>
      </p:sp>
      <p:graphicFrame>
        <p:nvGraphicFramePr>
          <p:cNvPr id="6" name="Table 5"/>
          <p:cNvGraphicFramePr/>
          <p:nvPr/>
        </p:nvGraphicFramePr>
        <p:xfrm>
          <a:off x="1322070" y="4252595"/>
          <a:ext cx="10483850" cy="1860550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372110">
                <a:tc>
                  <a:txBody>
                    <a:bodyPr/>
                    <a:p>
                      <a:r>
                        <a:rPr lang="zh-CN" altLang="en-US" sz="1100"/>
                        <a:t>配置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模型参数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归约后的梯度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优化器状态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理想的每卡模型状态存储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2110">
                <a:tc>
                  <a:txBody>
                    <a:bodyPr/>
                    <a:p>
                      <a:r>
                        <a:rPr lang="zh-CN" altLang="en-US" sz="1100"/>
                        <a:t>普通 </a:t>
                      </a:r>
                      <a:r>
                        <a:rPr lang="en-US" altLang="zh-CN" sz="1100"/>
                        <a:t>DDP</a:t>
                      </a:r>
                      <a:r>
                        <a:rPr lang="zh-CN" altLang="en-US" sz="1100"/>
                        <a:t>／</a:t>
                      </a:r>
                      <a:r>
                        <a:rPr lang="en-US" altLang="zh-CN" sz="1100"/>
                        <a:t>ZeRO Stage 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完整复制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完整复制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完整复制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W</a:t>
                      </a:r>
                      <a:r>
                        <a:rPr lang="en-US" altLang="zh-CN" sz="1100"/>
                        <a:t>+</a:t>
                      </a:r>
                      <a:r>
                        <a:rPr lang="en-US" altLang="zh-CN" sz="1100"/>
                        <a:t>G</a:t>
                      </a:r>
                      <a:r>
                        <a:rPr lang="en-US" altLang="zh-CN" sz="1100"/>
                        <a:t>+</a:t>
                      </a:r>
                      <a:r>
                        <a:rPr lang="en-US" altLang="zh-CN" sz="1100"/>
                        <a:t>O</a:t>
                      </a:r>
                      <a:r>
                        <a:rPr lang="en-US" altLang="zh-CN" sz="1100"/>
                        <a:t>W+G+O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2110">
                <a:tc>
                  <a:txBody>
                    <a:bodyPr/>
                    <a:p>
                      <a:r>
                        <a:rPr lang="en-US" altLang="zh-CN" sz="1100"/>
                        <a:t>ZeRO Stage 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完整复制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完整复制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分片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W</a:t>
                      </a:r>
                      <a:r>
                        <a:rPr lang="en-US" altLang="zh-CN" sz="1100"/>
                        <a:t>+</a:t>
                      </a:r>
                      <a:r>
                        <a:rPr lang="en-US" altLang="zh-CN" sz="1100"/>
                        <a:t>G</a:t>
                      </a:r>
                      <a:r>
                        <a:rPr lang="en-US" altLang="zh-CN" sz="1100"/>
                        <a:t>+</a:t>
                      </a:r>
                      <a:r>
                        <a:rPr lang="en-US" altLang="zh-CN" sz="1100"/>
                        <a:t>O</a:t>
                      </a:r>
                      <a:r>
                        <a:rPr lang="en-US" altLang="zh-CN" sz="1100"/>
                        <a:t>/</a:t>
                      </a:r>
                      <a:r>
                        <a:rPr lang="en-US" altLang="zh-CN" sz="1100"/>
                        <a:t>D</a:t>
                      </a:r>
                      <a:r>
                        <a:rPr lang="en-US" altLang="zh-CN" sz="1100"/>
                        <a:t>W+G+O/D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2110">
                <a:tc>
                  <a:txBody>
                    <a:bodyPr/>
                    <a:p>
                      <a:r>
                        <a:rPr lang="en-US" altLang="zh-CN" sz="1100"/>
                        <a:t>ZeRO Stage 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完整复制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分片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分片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W</a:t>
                      </a:r>
                      <a:r>
                        <a:rPr lang="en-US" altLang="zh-CN" sz="1100"/>
                        <a:t>+</a:t>
                      </a:r>
                      <a:r>
                        <a:rPr lang="en-US" altLang="zh-CN" sz="1100"/>
                        <a:t>(</a:t>
                      </a:r>
                      <a:r>
                        <a:rPr lang="en-US" altLang="zh-CN" sz="1100"/>
                        <a:t>G</a:t>
                      </a:r>
                      <a:r>
                        <a:rPr lang="en-US" altLang="zh-CN" sz="1100"/>
                        <a:t>+</a:t>
                      </a:r>
                      <a:r>
                        <a:rPr lang="en-US" altLang="zh-CN" sz="1100"/>
                        <a:t>O</a:t>
                      </a:r>
                      <a:r>
                        <a:rPr lang="en-US" altLang="zh-CN" sz="1100"/>
                        <a:t>)</a:t>
                      </a:r>
                      <a:r>
                        <a:rPr lang="en-US" altLang="zh-CN" sz="1100"/>
                        <a:t>/</a:t>
                      </a:r>
                      <a:r>
                        <a:rPr lang="en-US" altLang="zh-CN" sz="1100"/>
                        <a:t>D</a:t>
                      </a:r>
                      <a:r>
                        <a:rPr lang="en-US" altLang="zh-CN" sz="1100"/>
                        <a:t>W+(G+O)/D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2110">
                <a:tc>
                  <a:txBody>
                    <a:bodyPr/>
                    <a:p>
                      <a:r>
                        <a:rPr lang="en-US" altLang="zh-CN" sz="1100"/>
                        <a:t>ZeRO Stage 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分片，计算时临时收集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分片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分片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(</a:t>
                      </a:r>
                      <a:r>
                        <a:rPr lang="en-US" altLang="zh-CN" sz="1100"/>
                        <a:t>W</a:t>
                      </a:r>
                      <a:r>
                        <a:rPr lang="en-US" altLang="zh-CN" sz="1100"/>
                        <a:t>+</a:t>
                      </a:r>
                      <a:r>
                        <a:rPr lang="en-US" altLang="zh-CN" sz="1100"/>
                        <a:t>G</a:t>
                      </a:r>
                      <a:r>
                        <a:rPr lang="en-US" altLang="zh-CN" sz="1100"/>
                        <a:t>+</a:t>
                      </a:r>
                      <a:r>
                        <a:rPr lang="en-US" altLang="zh-CN" sz="1100"/>
                        <a:t>O</a:t>
                      </a:r>
                      <a:r>
                        <a:rPr lang="en-US" altLang="zh-CN" sz="1100"/>
                        <a:t>)</a:t>
                      </a:r>
                      <a:r>
                        <a:rPr lang="en-US" altLang="zh-CN" sz="1100"/>
                        <a:t>/</a:t>
                      </a:r>
                      <a:r>
                        <a:rPr lang="en-US" altLang="zh-CN" sz="1100"/>
                        <a:t>D</a:t>
                      </a:r>
                      <a:r>
                        <a:rPr lang="en-US" altLang="zh-CN" sz="1100"/>
                        <a:t>(W+G+O)/D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1322070" y="6276975"/>
            <a:ext cx="7393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至于</a:t>
            </a:r>
            <a:r>
              <a:rPr lang="en-US" altLang="zh-CN"/>
              <a:t> Zero offload Zero infinity Zero ++  </a:t>
            </a:r>
            <a:r>
              <a:rPr lang="zh-CN" altLang="en-US"/>
              <a:t>这些没来得及尝试</a:t>
            </a:r>
            <a:r>
              <a:rPr lang="en-US" altLang="zh-CN"/>
              <a:t>doge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42035" y="568960"/>
            <a:ext cx="10607040" cy="5530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一些妙妙小技术</a:t>
            </a:r>
            <a:r>
              <a:rPr lang="en-US" altLang="zh-CN"/>
              <a:t>:D -- </a:t>
            </a:r>
            <a:r>
              <a:rPr lang="zh-CN" altLang="en-US"/>
              <a:t>主要是用时间换空间</a:t>
            </a:r>
            <a:r>
              <a:rPr lang="en-US" altLang="zh-CN"/>
              <a:t> </a:t>
            </a:r>
            <a:r>
              <a:rPr lang="zh-CN" altLang="en-US"/>
              <a:t>其实准确来说是用计算换显存</a:t>
            </a:r>
            <a:r>
              <a:rPr lang="en-US" altLang="zh-CN"/>
              <a:t>doge </a:t>
            </a:r>
            <a:endParaRPr lang="en-US" altLang="zh-CN"/>
          </a:p>
          <a:p>
            <a:endParaRPr lang="en-US" altLang="en-US"/>
          </a:p>
          <a:p>
            <a:r>
              <a:rPr lang="en-US" altLang="en-US"/>
              <a:t>https://pytorch.org/blog/activation-checkpointing-techniques/</a:t>
            </a:r>
            <a:endParaRPr lang="en-US" altLang="en-US"/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853440" y="1511300"/>
          <a:ext cx="11228070" cy="5259705"/>
        </p:xfrm>
        <a:graphic>
          <a:graphicData uri="http://schemas.openxmlformats.org/drawingml/2006/table">
            <a:tbl>
              <a:tblPr/>
              <a:tblGrid>
                <a:gridCol w="3742690"/>
                <a:gridCol w="3742690"/>
                <a:gridCol w="3742690"/>
              </a:tblGrid>
              <a:tr h="516255">
                <a:tc>
                  <a:txBody>
                    <a:bodyPr/>
                    <a:p>
                      <a:r>
                        <a:rPr lang="zh-CN" altLang="en-US" sz="1800"/>
                        <a:t>对照实验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results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analysis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6255">
                <a:tc>
                  <a:txBody>
                    <a:bodyPr/>
                    <a:p>
                      <a:r>
                        <a:rPr lang="en-US" altLang="zh-CN" sz="1800"/>
                        <a:t>1.5B</a:t>
                      </a:r>
                      <a:r>
                        <a:rPr lang="zh-CN" altLang="en-US" sz="1800"/>
                        <a:t>：关闭预取 </a:t>
                      </a:r>
                      <a:r>
                        <a:rPr lang="en-US" altLang="zh-CN" sz="1800"/>
                        <a:t>→ pre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187.83 → 166.73 ms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更新耗时降低 </a:t>
                      </a:r>
                      <a:r>
                        <a:rPr lang="en-US" altLang="zh-CN" sz="1800"/>
                        <a:t>11.2%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6255">
                <a:tc>
                  <a:txBody>
                    <a:bodyPr/>
                    <a:p>
                      <a:r>
                        <a:rPr lang="en-US" altLang="zh-CN" sz="1800"/>
                        <a:t>1.5B</a:t>
                      </a:r>
                      <a:r>
                        <a:rPr lang="zh-CN" altLang="en-US" sz="1800"/>
                        <a:t>：默认通信 </a:t>
                      </a:r>
                      <a:r>
                        <a:rPr lang="en-US" altLang="zh-CN" sz="1800"/>
                        <a:t>→ </a:t>
                      </a:r>
                      <a:r>
                        <a:rPr lang="zh-CN" altLang="en-US" sz="1800"/>
                        <a:t>禁用 </a:t>
                      </a:r>
                      <a:r>
                        <a:rPr lang="en-US" altLang="zh-CN" sz="1800"/>
                        <a:t>P2P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166.73 → 649.16 ms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更新耗时变为 </a:t>
                      </a:r>
                      <a:r>
                        <a:rPr lang="en-US" altLang="zh-CN" sz="1800"/>
                        <a:t>3.89 </a:t>
                      </a:r>
                      <a:r>
                        <a:rPr lang="zh-CN" altLang="en-US" sz="1800"/>
                        <a:t>倍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6255">
                <a:tc>
                  <a:txBody>
                    <a:bodyPr/>
                    <a:p>
                      <a:r>
                        <a:rPr lang="zh-CN" altLang="en-US" sz="1800"/>
                        <a:t>按 </a:t>
                      </a:r>
                      <a:r>
                        <a:rPr lang="en-US" altLang="zh-CN" sz="1800"/>
                        <a:t>block → </a:t>
                      </a:r>
                      <a:r>
                        <a:rPr lang="zh-CN" altLang="en-US" sz="1800"/>
                        <a:t>按 </a:t>
                      </a:r>
                      <a:r>
                        <a:rPr lang="en-US" altLang="zh-CN" sz="1800"/>
                        <a:t>Linear </a:t>
                      </a:r>
                      <a:r>
                        <a:rPr lang="zh-CN" altLang="en-US" sz="1800"/>
                        <a:t>分片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166.73 → 404.75 ms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更新耗时变为 </a:t>
                      </a:r>
                      <a:r>
                        <a:rPr lang="en-US" altLang="zh-CN" sz="1800"/>
                        <a:t>2.43 </a:t>
                      </a:r>
                      <a:r>
                        <a:rPr lang="zh-CN" altLang="en-US" sz="1800"/>
                        <a:t>倍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r>
                        <a:rPr lang="zh-CN" altLang="en-US" sz="1800"/>
                        <a:t>按 </a:t>
                      </a:r>
                      <a:r>
                        <a:rPr lang="en-US" altLang="zh-CN" sz="1800"/>
                        <a:t>block → </a:t>
                      </a:r>
                      <a:r>
                        <a:rPr lang="zh-CN" altLang="en-US" sz="1800"/>
                        <a:t>整个模型一个分片单元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166.73 → 156.32 ms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耗时降低 </a:t>
                      </a:r>
                      <a:r>
                        <a:rPr lang="en-US" altLang="zh-CN" sz="1800"/>
                        <a:t>6.2%</a:t>
                      </a:r>
                      <a:r>
                        <a:rPr lang="zh-CN" altLang="en-US" sz="1800"/>
                        <a:t>，峰值显存增加 </a:t>
                      </a:r>
                      <a:r>
                        <a:rPr lang="en-US" altLang="zh-CN" sz="1800"/>
                        <a:t>44.3%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6255">
                <a:tc>
                  <a:txBody>
                    <a:bodyPr/>
                    <a:p>
                      <a:r>
                        <a:rPr lang="zh-CN" altLang="en-US" sz="1800"/>
                        <a:t>累积</a:t>
                      </a:r>
                      <a:r>
                        <a:rPr lang="en-US" altLang="zh-CN" sz="1800"/>
                        <a:t>4</a:t>
                      </a:r>
                      <a:r>
                        <a:rPr lang="zh-CN" altLang="en-US" sz="1800"/>
                        <a:t>次：每次同步 </a:t>
                      </a:r>
                      <a:r>
                        <a:rPr lang="en-US" altLang="zh-CN" sz="1800"/>
                        <a:t>→ </a:t>
                      </a:r>
                      <a:r>
                        <a:rPr lang="zh-CN" altLang="en-US" sz="1800"/>
                        <a:t>最后同步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638.26 → 543.57 ms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更新耗时降低 </a:t>
                      </a:r>
                      <a:r>
                        <a:rPr lang="en-US" altLang="zh-CN" sz="1800"/>
                        <a:t>14.8%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6255">
                <a:tc>
                  <a:txBody>
                    <a:bodyPr/>
                    <a:p>
                      <a:r>
                        <a:rPr lang="en-US" altLang="zh-CN" sz="1800"/>
                        <a:t>batch1</a:t>
                      </a:r>
                      <a:r>
                        <a:rPr lang="zh-CN" altLang="en-US" sz="1800"/>
                        <a:t>累积</a:t>
                      </a:r>
                      <a:r>
                        <a:rPr lang="en-US" altLang="zh-CN" sz="1800"/>
                        <a:t>4</a:t>
                      </a:r>
                      <a:r>
                        <a:rPr lang="zh-CN" altLang="en-US" sz="1800"/>
                        <a:t>次、最后同步 </a:t>
                      </a:r>
                      <a:r>
                        <a:rPr lang="en-US" altLang="zh-CN" sz="1800"/>
                        <a:t>→ batch4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543.57 → 328.07 ms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相同有效 </a:t>
                      </a:r>
                      <a:r>
                        <a:rPr lang="en-US" altLang="zh-CN" sz="1800"/>
                        <a:t>batch</a:t>
                      </a:r>
                      <a:r>
                        <a:rPr lang="zh-CN" altLang="en-US" sz="1800"/>
                        <a:t>，吞吐提高 </a:t>
                      </a:r>
                      <a:r>
                        <a:rPr lang="en-US" altLang="zh-CN" sz="1800"/>
                        <a:t>65.7%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6255">
                <a:tc>
                  <a:txBody>
                    <a:bodyPr/>
                    <a:p>
                      <a:r>
                        <a:rPr lang="en-US" altLang="zh-CN" sz="1800"/>
                        <a:t>seq4096</a:t>
                      </a:r>
                      <a:r>
                        <a:rPr lang="zh-CN" altLang="en-US" sz="1800"/>
                        <a:t>：开启激活重计算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28.12 → 16.52 GiB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峰值显存降低 </a:t>
                      </a:r>
                      <a:r>
                        <a:rPr lang="en-US" altLang="zh-CN" sz="1800"/>
                        <a:t>41.3%</a:t>
                      </a:r>
                      <a:r>
                        <a:rPr lang="zh-CN" altLang="en-US" sz="1800"/>
                        <a:t>，更新耗时增加 </a:t>
                      </a:r>
                      <a:r>
                        <a:rPr lang="en-US" altLang="zh-CN" sz="1800"/>
                        <a:t>21.8%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6255">
                <a:tc>
                  <a:txBody>
                    <a:bodyPr/>
                    <a:p>
                      <a:r>
                        <a:rPr lang="en-US" altLang="zh-CN" sz="1800"/>
                        <a:t>FP32 → BF16 </a:t>
                      </a:r>
                      <a:r>
                        <a:rPr lang="zh-CN" altLang="en-US" sz="1800"/>
                        <a:t>梯度归约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166.73 → 150.35 ms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更新耗时降低 </a:t>
                      </a:r>
                      <a:r>
                        <a:rPr lang="en-US" altLang="zh-CN" sz="1800"/>
                        <a:t>9.8%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6255">
                <a:tc>
                  <a:txBody>
                    <a:bodyPr/>
                    <a:p>
                      <a:r>
                        <a:rPr lang="en-US" altLang="zh-CN" sz="1800"/>
                        <a:t>0.5B</a:t>
                      </a:r>
                      <a:r>
                        <a:rPr lang="zh-CN" altLang="en-US" sz="1800"/>
                        <a:t>：</a:t>
                      </a:r>
                      <a:r>
                        <a:rPr lang="en-US" altLang="zh-CN" sz="1800"/>
                        <a:t>DDP → FULL_SHARD</a:t>
                      </a:r>
                      <a:r>
                        <a:rPr lang="zh-CN" altLang="en-US" sz="1800"/>
                        <a:t>＋</a:t>
                      </a:r>
                      <a:r>
                        <a:rPr lang="en-US" altLang="zh-CN" sz="1800"/>
                        <a:t>pre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88.00 → 115.99 ms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峰值显存降低 </a:t>
                      </a:r>
                      <a:r>
                        <a:rPr lang="en-US" altLang="zh-CN" sz="1800"/>
                        <a:t>47.0%</a:t>
                      </a:r>
                      <a:r>
                        <a:rPr lang="zh-CN" altLang="en-US" sz="1800"/>
                        <a:t>，更新耗时增加 </a:t>
                      </a:r>
                      <a:r>
                        <a:rPr lang="en-US" altLang="zh-CN" sz="1800"/>
                        <a:t>31.8%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170" y="0"/>
            <a:ext cx="3084830" cy="1565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2026-09-01-09-11-20-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115" y="0"/>
            <a:ext cx="6318250" cy="342963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43880" cy="4159250"/>
          </a:xfrm>
          <a:prstGeom prst="rect">
            <a:avLst/>
          </a:prstGeom>
        </p:spPr>
      </p:pic>
      <p:pic>
        <p:nvPicPr>
          <p:cNvPr id="6" name="Picture 5" descr="2026-09-01-09-11-31-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115" y="3505835"/>
            <a:ext cx="6317615" cy="33515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2026-09-01-08-47-32-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35" y="0"/>
            <a:ext cx="5366385" cy="25819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26085" y="48196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3</a:t>
            </a:r>
            <a:endParaRPr lang="en-US" sz="3200"/>
          </a:p>
        </p:txBody>
      </p:sp>
      <p:pic>
        <p:nvPicPr>
          <p:cNvPr id="6" name="Picture 5" descr="2026-09-01-08-47-47-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35" y="2581910"/>
            <a:ext cx="4965065" cy="391922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374130" y="481965"/>
            <a:ext cx="58178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1 Denoising Diffusion Probabilistic Models</a:t>
            </a:r>
            <a:endParaRPr lang="en-US" altLang="en-US"/>
          </a:p>
          <a:p>
            <a:r>
              <a:rPr lang="en-US" altLang="en-US"/>
              <a:t>2 Flow Matching and Rectified Flow</a:t>
            </a:r>
            <a:endParaRPr lang="en-US" altLang="en-US"/>
          </a:p>
          <a:p>
            <a:r>
              <a:rPr lang="en-US" altLang="en-US"/>
              <a:t>3 Text-to-Image Diffusion Models</a:t>
            </a:r>
            <a:endParaRPr lang="en-US" altLang="en-US"/>
          </a:p>
          <a:p>
            <a:endParaRPr lang="en-US" altLang="en-US"/>
          </a:p>
          <a:p>
            <a:pPr indent="457200"/>
            <a:r>
              <a:rPr lang="en-US" altLang="en-US"/>
              <a:t>3.1 Cross-Attention–Based U-Net Architectures.</a:t>
            </a:r>
            <a:endParaRPr lang="en-US" altLang="en-US"/>
          </a:p>
          <a:p>
            <a:endParaRPr lang="en-US" altLang="en-US"/>
          </a:p>
          <a:p>
            <a:pPr indent="457200"/>
            <a:r>
              <a:rPr lang="en-US" altLang="en-US"/>
              <a:t>3.2 Transformer-Based Diffusion Models: DiT and MMDiT</a:t>
            </a:r>
            <a:endParaRPr lang="en-US" altLang="en-US"/>
          </a:p>
        </p:txBody>
      </p:sp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6298565" y="3696335"/>
            <a:ext cx="5719445" cy="2326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2026-09-02-00-07-20-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055" y="217170"/>
            <a:ext cx="12192000" cy="53416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64540" y="5662295"/>
            <a:ext cx="6116955" cy="670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针对</a:t>
            </a:r>
            <a:r>
              <a:rPr lang="en-US" altLang="zh-CN"/>
              <a:t>T2I</a:t>
            </a:r>
            <a:r>
              <a:rPr lang="zh-CN" altLang="en-US"/>
              <a:t>的</a:t>
            </a:r>
            <a:r>
              <a:rPr lang="en-US" altLang="zh-CN"/>
              <a:t>Diffusion based arch of diff models 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2026-09-02-04-26-32-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55" y="0"/>
            <a:ext cx="107613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99415" y="42926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4</a:t>
            </a:r>
            <a:endParaRPr lang="en-US" sz="3600"/>
          </a:p>
        </p:txBody>
      </p:sp>
      <p:pic>
        <p:nvPicPr>
          <p:cNvPr id="4" name="Picture 3" descr="mermaid-diagram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985" y="102235"/>
            <a:ext cx="6513830" cy="301053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19530" y="25628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目前</a:t>
            </a:r>
            <a:r>
              <a:rPr lang="en-US" altLang="zh-CN"/>
              <a:t>VLM</a:t>
            </a:r>
            <a:r>
              <a:rPr lang="zh-CN" altLang="en-US"/>
              <a:t>谱系</a:t>
            </a:r>
            <a:endParaRPr lang="zh-CN" alt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853440" y="3112135"/>
          <a:ext cx="10485120" cy="374523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449580">
                <a:tc>
                  <a:txBody>
                    <a:bodyPr/>
                    <a:p>
                      <a:r>
                        <a:rPr lang="zh-CN" altLang="en-US" sz="1600"/>
                        <a:t>路线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数据路径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代表模型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特点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99795">
                <a:tc>
                  <a:txBody>
                    <a:bodyPr/>
                    <a:p>
                      <a:r>
                        <a:rPr lang="en-US" altLang="zh-CN" sz="1600"/>
                        <a:t>Projected-token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ViT → projector/compressor → LLM token stream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PaliGemma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Qwen-VL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LLaVA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InternVL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Pixtral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Phi-Vision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最普遍，也最方便接 </a:t>
                      </a:r>
                      <a:r>
                        <a:rPr lang="en-US" altLang="zh-CN" sz="1600"/>
                        <a:t>VLA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0430">
                <a:tc>
                  <a:txBody>
                    <a:bodyPr/>
                    <a:p>
                      <a:r>
                        <a:rPr lang="en-US" altLang="zh-CN" sz="1600"/>
                        <a:t>Visual-memory cross-attention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ViT → resampler → </a:t>
                      </a:r>
                      <a:r>
                        <a:rPr lang="zh-CN" altLang="en-US" sz="1600"/>
                        <a:t>独立 </a:t>
                      </a:r>
                      <a:r>
                        <a:rPr lang="en-US" altLang="zh-CN" sz="1600"/>
                        <a:t>K/V → LLM </a:t>
                      </a:r>
                      <a:r>
                        <a:rPr lang="zh-CN" altLang="en-US" sz="1600"/>
                        <a:t>中间层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Flamingo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IDEFICS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Llama 3.2 Vision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易冻结语言模型、隔离模态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0430">
                <a:tc>
                  <a:txBody>
                    <a:bodyPr/>
                    <a:p>
                      <a:r>
                        <a:rPr lang="en-US" altLang="zh-CN" sz="1600"/>
                        <a:t>Native early fusion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仍可能有 </a:t>
                      </a:r>
                      <a:r>
                        <a:rPr lang="en-US" altLang="zh-CN" sz="1600"/>
                        <a:t>vision encoder</a:t>
                      </a:r>
                      <a:r>
                        <a:rPr lang="zh-CN" altLang="en-US" sz="1600"/>
                        <a:t>，但从预训练开始联合多模态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Llama 4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Qwen3.5/3.8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多模态不再是后接 </a:t>
                      </a:r>
                      <a:r>
                        <a:rPr lang="en-US" altLang="zh-CN" sz="1600"/>
                        <a:t>adapter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4995">
                <a:tc>
                  <a:txBody>
                    <a:bodyPr/>
                    <a:p>
                      <a:r>
                        <a:rPr lang="en-US" altLang="zh-CN" sz="1600"/>
                        <a:t>Encoder-free/unified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raw patch → </a:t>
                      </a:r>
                      <a:r>
                        <a:rPr lang="zh-CN" altLang="en-US" sz="1600"/>
                        <a:t>小投影层 </a:t>
                      </a:r>
                      <a:r>
                        <a:rPr lang="en-US" altLang="zh-CN" sz="1600"/>
                        <a:t>→ </a:t>
                      </a:r>
                      <a:r>
                        <a:rPr lang="zh-CN" altLang="en-US" sz="1600"/>
                        <a:t>同一个 </a:t>
                      </a:r>
                      <a:r>
                        <a:rPr lang="en-US" altLang="zh-CN" sz="1600"/>
                        <a:t>decoder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Gemma 4 12B Unified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Fuyu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结构最统一，但训练和 </a:t>
                      </a:r>
                      <a:r>
                        <a:rPr lang="en-US" altLang="zh-CN" sz="1600"/>
                        <a:t>token </a:t>
                      </a:r>
                      <a:r>
                        <a:rPr lang="zh-CN" altLang="en-US" sz="1600"/>
                        <a:t>成本更高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1066800" y="229870"/>
          <a:ext cx="10871200" cy="6575425"/>
        </p:xfrm>
        <a:graphic>
          <a:graphicData uri="http://schemas.openxmlformats.org/drawingml/2006/table">
            <a:tbl>
              <a:tblPr/>
              <a:tblGrid>
                <a:gridCol w="2717800"/>
                <a:gridCol w="2717800"/>
                <a:gridCol w="2717800"/>
                <a:gridCol w="2717800"/>
              </a:tblGrid>
              <a:tr h="311785">
                <a:tc>
                  <a:txBody>
                    <a:bodyPr/>
                    <a:p>
                      <a:r>
                        <a:rPr lang="zh-CN" altLang="en-US" sz="1600"/>
                        <a:t>家族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近期规模发展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视觉融合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主要方向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840">
                <a:tc>
                  <a:txBody>
                    <a:bodyPr/>
                    <a:p>
                      <a:r>
                        <a:rPr lang="en-US" altLang="zh-CN" sz="1600"/>
                        <a:t>PaliGemma/Gemma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3B → 3/10/28B → 4/12/27B → Gemma 4 </a:t>
                      </a:r>
                      <a:r>
                        <a:rPr lang="zh-CN" altLang="en-US" sz="1600"/>
                        <a:t>多档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SigLIP + linear/pooling</a:t>
                      </a:r>
                      <a:r>
                        <a:rPr lang="zh-CN" altLang="en-US" sz="1600"/>
                        <a:t>；最新出现 </a:t>
                      </a:r>
                      <a:r>
                        <a:rPr lang="en-US" altLang="zh-CN" sz="1600"/>
                        <a:t>encoder-free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干净、适合微调，也是 </a:t>
                      </a:r>
                      <a:r>
                        <a:rPr lang="en-US" altLang="zh-CN" sz="1600"/>
                        <a:t>π0 </a:t>
                      </a:r>
                      <a:r>
                        <a:rPr lang="zh-CN" altLang="en-US" sz="1600"/>
                        <a:t>的源头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r>
                        <a:rPr lang="en-US" altLang="zh-CN" sz="1600">
                          <a:hlinkClick r:id="rId1"/>
                        </a:rPr>
                        <a:t>Qwen-VL</a:t>
                      </a:r>
                      <a:endParaRPr lang="en-US" altLang="zh-CN" sz="1600">
                        <a:hlinkClick r:id="rId1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9.6B → 2/7/72B → 3/7/32/72B → 2/4/8/32B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30B-A3B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235B-A22B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动态 </a:t>
                      </a:r>
                      <a:r>
                        <a:rPr lang="en-US" altLang="zh-CN" sz="1600"/>
                        <a:t>ViT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2×2 merger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M-RoPE</a:t>
                      </a:r>
                      <a:r>
                        <a:rPr lang="zh-CN" altLang="en-US" sz="1600"/>
                        <a:t>；</a:t>
                      </a:r>
                      <a:r>
                        <a:rPr lang="en-US" altLang="zh-CN" sz="1600"/>
                        <a:t>Qwen3-VL </a:t>
                      </a:r>
                      <a:r>
                        <a:rPr lang="zh-CN" altLang="en-US" sz="1600"/>
                        <a:t>加 </a:t>
                      </a:r>
                      <a:r>
                        <a:rPr lang="en-US" altLang="zh-CN" sz="1600"/>
                        <a:t>DeepStack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动态分辨率、视频、空间定位、机器人生态强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r>
                        <a:rPr lang="en-US" altLang="zh-CN" sz="1600">
                          <a:hlinkClick r:id="rId2"/>
                        </a:rPr>
                        <a:t>InternVL</a:t>
                      </a:r>
                      <a:endParaRPr lang="en-US" altLang="zh-CN" sz="1600">
                        <a:hlinkClick r:id="rId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1–78B → 1–38B dense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20B-A4B/30B-A3B/241B-A28B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InternViT → pixel-unshuffle → MLP → LLM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高分辨率、多 </a:t>
                      </a:r>
                      <a:r>
                        <a:rPr lang="en-US" altLang="zh-CN" sz="1600"/>
                        <a:t>tile</a:t>
                      </a:r>
                      <a:r>
                        <a:rPr lang="zh-CN" altLang="en-US" sz="1600"/>
                        <a:t>、多尺寸覆盖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r>
                        <a:rPr lang="en-US" altLang="zh-CN" sz="1600">
                          <a:hlinkClick r:id="rId3"/>
                        </a:rPr>
                        <a:t>LLaVA-OneVision</a:t>
                      </a:r>
                      <a:endParaRPr lang="en-US" altLang="zh-CN" sz="1600">
                        <a:hlinkClick r:id="rId3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7/13B → 0.9/8/73B </a:t>
                      </a:r>
                      <a:r>
                        <a:rPr lang="zh-CN" altLang="en-US" sz="1600"/>
                        <a:t>总量 </a:t>
                      </a:r>
                      <a:r>
                        <a:rPr lang="en-US" altLang="zh-CN" sz="1600"/>
                        <a:t>→ </a:t>
                      </a:r>
                      <a:r>
                        <a:rPr lang="zh-CN" altLang="en-US" sz="1600"/>
                        <a:t>约</a:t>
                      </a:r>
                      <a:r>
                        <a:rPr lang="en-US" altLang="zh-CN" sz="1600"/>
                        <a:t>5/9B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SigLIP/RICE-ViT → MLP → Qwen</a:t>
                      </a:r>
                      <a:r>
                        <a:rPr lang="zh-CN" altLang="en-US" sz="1600"/>
                        <a:t>；</a:t>
                      </a:r>
                      <a:r>
                        <a:rPr lang="en-US" altLang="zh-CN" sz="1600"/>
                        <a:t>OV2 </a:t>
                      </a:r>
                      <a:r>
                        <a:rPr lang="zh-CN" altLang="en-US" sz="1600"/>
                        <a:t>加 </a:t>
                      </a:r>
                      <a:r>
                        <a:rPr lang="en-US" altLang="zh-CN" sz="1600"/>
                        <a:t>codec-aware </a:t>
                      </a:r>
                      <a:r>
                        <a:rPr lang="zh-CN" altLang="en-US" sz="1600"/>
                        <a:t>视频 </a:t>
                      </a:r>
                      <a:r>
                        <a:rPr lang="en-US" altLang="zh-CN" sz="1600"/>
                        <a:t>token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学术生态、训练配方、图像视频统一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840">
                <a:tc>
                  <a:txBody>
                    <a:bodyPr/>
                    <a:p>
                      <a:r>
                        <a:rPr lang="en-US" altLang="zh-CN" sz="1600">
                          <a:hlinkClick r:id="rId4"/>
                        </a:rPr>
                        <a:t>Molmo/Molmo2</a:t>
                      </a:r>
                      <a:endParaRPr lang="en-US" altLang="zh-CN" sz="1600">
                        <a:hlinkClick r:id="rId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7/72B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7B-total/1B-active → 4/8B</a:t>
                      </a:r>
                      <a:r>
                        <a:rPr lang="zh-CN" altLang="en-US" sz="1600"/>
                        <a:t>及</a:t>
                      </a:r>
                      <a:r>
                        <a:rPr lang="en-US" altLang="zh-CN" sz="1600"/>
                        <a:t>OLMo-7B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多层 </a:t>
                      </a:r>
                      <a:r>
                        <a:rPr lang="en-US" altLang="zh-CN" sz="1600"/>
                        <a:t>ViT </a:t>
                      </a:r>
                      <a:r>
                        <a:rPr lang="zh-CN" altLang="en-US" sz="1600"/>
                        <a:t>特征 </a:t>
                      </a:r>
                      <a:r>
                        <a:rPr lang="en-US" altLang="zh-CN" sz="1600"/>
                        <a:t>+ attention pooling + connector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指点、追踪、时间戳和可验证 </a:t>
                      </a:r>
                      <a:r>
                        <a:rPr lang="en-US" altLang="zh-CN" sz="1600"/>
                        <a:t>grounding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7680">
                <a:tc>
                  <a:txBody>
                    <a:bodyPr/>
                    <a:p>
                      <a:r>
                        <a:rPr lang="en-US" altLang="zh-CN" sz="1600">
                          <a:hlinkClick r:id="rId5"/>
                        </a:rPr>
                        <a:t>SmolVLM2</a:t>
                      </a:r>
                      <a:endParaRPr lang="en-US" altLang="zh-CN" sz="1600">
                        <a:hlinkClick r:id="rId5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2.2B → 256M/500M/2.2B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SigLIP + pixel-shuffle </a:t>
                      </a:r>
                      <a:r>
                        <a:rPr lang="zh-CN" altLang="en-US" sz="1600"/>
                        <a:t>强压缩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小模型、端侧和机器人实时部署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7680">
                <a:tc>
                  <a:txBody>
                    <a:bodyPr/>
                    <a:p>
                      <a:r>
                        <a:rPr lang="en-US" altLang="zh-CN" sz="1600">
                          <a:hlinkClick r:id="rId6"/>
                        </a:rPr>
                        <a:t>MiniCPM-V</a:t>
                      </a:r>
                      <a:endParaRPr lang="en-US" altLang="zh-CN" sz="1600">
                        <a:hlinkClick r:id="rId6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2.8B → 8.1/8.7B → 1.3B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SigLIP + Perceiver/3D resampler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极强视觉 </a:t>
                      </a:r>
                      <a:r>
                        <a:rPr lang="en-US" altLang="zh-CN" sz="1600"/>
                        <a:t>token </a:t>
                      </a:r>
                      <a:r>
                        <a:rPr lang="zh-CN" altLang="en-US" sz="1600"/>
                        <a:t>压缩和移动端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4840">
                <a:tc>
                  <a:txBody>
                    <a:bodyPr/>
                    <a:p>
                      <a:r>
                        <a:rPr lang="en-US" altLang="zh-CN" sz="1600">
                          <a:hlinkClick r:id="rId7"/>
                        </a:rPr>
                        <a:t>Phi-Vision</a:t>
                      </a:r>
                      <a:endParaRPr lang="en-US" altLang="zh-CN" sz="1600">
                        <a:hlinkClick r:id="rId7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4.2B → Phi-4-MM 5.6B → reasoning-vision 15B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CLIP/SigLIP → MLP</a:t>
                      </a:r>
                      <a:r>
                        <a:rPr lang="zh-CN" altLang="en-US" sz="1600"/>
                        <a:t>；</a:t>
                      </a:r>
                      <a:r>
                        <a:rPr lang="en-US" altLang="zh-CN" sz="1600"/>
                        <a:t>Phi-4-MM </a:t>
                      </a:r>
                      <a:r>
                        <a:rPr lang="zh-CN" altLang="en-US" sz="1600"/>
                        <a:t>加 </a:t>
                      </a:r>
                      <a:r>
                        <a:rPr lang="en-US" altLang="zh-CN" sz="1600"/>
                        <a:t>modality LoRA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小型多模态推理、音频视觉统一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r>
                        <a:rPr lang="en-US" altLang="zh-CN" sz="1600">
                          <a:hlinkClick r:id="rId8"/>
                        </a:rPr>
                        <a:t>Llama Vision</a:t>
                      </a:r>
                      <a:endParaRPr lang="en-US" altLang="zh-CN" sz="1600">
                        <a:hlinkClick r:id="rId8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10.6/88.8B → Llama 4 109/400B total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17B active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Llama 3.2 </a:t>
                      </a:r>
                      <a:r>
                        <a:rPr lang="zh-CN" altLang="en-US" sz="1600"/>
                        <a:t>是 </a:t>
                      </a:r>
                      <a:r>
                        <a:rPr lang="en-US" altLang="zh-CN" sz="1600"/>
                        <a:t>cross-attention</a:t>
                      </a:r>
                      <a:r>
                        <a:rPr lang="zh-CN" altLang="en-US" sz="1600"/>
                        <a:t>；</a:t>
                      </a:r>
                      <a:r>
                        <a:rPr lang="en-US" altLang="zh-CN" sz="1600"/>
                        <a:t>Llama 4 </a:t>
                      </a:r>
                      <a:r>
                        <a:rPr lang="zh-CN" altLang="en-US" sz="1600"/>
                        <a:t>是 </a:t>
                      </a:r>
                      <a:r>
                        <a:rPr lang="en-US" altLang="zh-CN" sz="1600"/>
                        <a:t>early-fusion MoE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大规模通用多模态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7680">
                <a:tc>
                  <a:txBody>
                    <a:bodyPr/>
                    <a:p>
                      <a:r>
                        <a:rPr lang="en-US" altLang="zh-CN" sz="1600">
                          <a:hlinkClick r:id="rId9"/>
                        </a:rPr>
                        <a:t>Pixtral</a:t>
                      </a:r>
                      <a:endParaRPr lang="en-US" altLang="zh-CN" sz="1600">
                        <a:hlinkClick r:id="rId9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12B → 124B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原生分辨率 </a:t>
                      </a:r>
                      <a:r>
                        <a:rPr lang="en-US" altLang="zh-CN" sz="1600"/>
                        <a:t>ViT → 2</a:t>
                      </a:r>
                      <a:r>
                        <a:rPr lang="zh-CN" altLang="en-US" sz="1600"/>
                        <a:t>层 </a:t>
                      </a:r>
                      <a:r>
                        <a:rPr lang="en-US" altLang="zh-CN" sz="1600"/>
                        <a:t>MLP → decoder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文档、多图、长上下文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0" y="-25400"/>
          <a:ext cx="8086725" cy="6852920"/>
        </p:xfrm>
        <a:graphic>
          <a:graphicData uri="http://schemas.openxmlformats.org/drawingml/2006/table">
            <a:tbl>
              <a:tblPr/>
              <a:tblGrid>
                <a:gridCol w="1028065"/>
                <a:gridCol w="2206625"/>
                <a:gridCol w="1617345"/>
                <a:gridCol w="1617345"/>
                <a:gridCol w="1617345"/>
              </a:tblGrid>
              <a:tr h="269240">
                <a:tc>
                  <a:txBody>
                    <a:bodyPr/>
                    <a:p>
                      <a:r>
                        <a:rPr lang="zh-CN" altLang="en-US" sz="1600"/>
                        <a:t>世代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zh-CN" altLang="en-US" sz="1600"/>
                        <a:t>年份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架构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zh-CN" altLang="en-US" sz="1600"/>
                        <a:t>规模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关键变化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r>
                        <a:rPr lang="en-US" altLang="zh-CN" sz="1600">
                          <a:hlinkClick r:id="rId1"/>
                        </a:rPr>
                        <a:t>PaLI</a:t>
                      </a:r>
                      <a:endParaRPr lang="en-US" altLang="zh-CN" sz="1600">
                        <a:hlinkClick r:id="rId1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2022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ViT-G/e + mT5 encoder-decoder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3/15/17B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同时扩大视觉与语言组件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5360">
                <a:tc>
                  <a:txBody>
                    <a:bodyPr/>
                    <a:p>
                      <a:r>
                        <a:rPr lang="en-US" altLang="zh-CN" sz="1600">
                          <a:hlinkClick r:id="rId2"/>
                        </a:rPr>
                        <a:t>PaLI-X</a:t>
                      </a:r>
                      <a:endParaRPr lang="en-US" altLang="zh-CN" sz="1600">
                        <a:hlinkClick r:id="rId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2023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ViT-22B + UL2-32B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55B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堆到超大视觉塔，强化 </a:t>
                      </a:r>
                      <a:r>
                        <a:rPr lang="en-US" altLang="zh-CN" sz="1600"/>
                        <a:t>OCR</a:t>
                      </a:r>
                      <a:r>
                        <a:rPr lang="zh-CN" altLang="en-US" sz="1600"/>
                        <a:t>、视频和 </a:t>
                      </a:r>
                      <a:r>
                        <a:rPr lang="en-US" altLang="zh-CN" sz="1600"/>
                        <a:t>few-shot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5360">
                <a:tc>
                  <a:txBody>
                    <a:bodyPr/>
                    <a:p>
                      <a:r>
                        <a:rPr lang="en-US" altLang="zh-CN" sz="1600">
                          <a:hlinkClick r:id="rId3"/>
                        </a:rPr>
                        <a:t>PaLI-3</a:t>
                      </a:r>
                      <a:endParaRPr lang="en-US" altLang="zh-CN" sz="1600">
                        <a:hlinkClick r:id="rId3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2023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SigLIP-G 2B + UL2-3B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5B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用更好的视觉预训练，以较小模型接近 </a:t>
                      </a:r>
                      <a:r>
                        <a:rPr lang="en-US" altLang="zh-CN" sz="1600"/>
                        <a:t>PaLI-X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19200">
                <a:tc>
                  <a:txBody>
                    <a:bodyPr/>
                    <a:p>
                      <a:r>
                        <a:rPr lang="en-US" altLang="zh-CN" sz="1600">
                          <a:hlinkClick r:id="rId4"/>
                        </a:rPr>
                        <a:t>PaliGemma</a:t>
                      </a:r>
                      <a:endParaRPr lang="en-US" altLang="zh-CN" sz="1600">
                        <a:hlinkClick r:id="rId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2024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SigLIP-So400M → linear projector → Gemma 1 2B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zh-CN" altLang="en-US" sz="1600"/>
                        <a:t>约</a:t>
                      </a:r>
                      <a:r>
                        <a:rPr lang="en-US" altLang="zh-CN" sz="1600"/>
                        <a:t>3B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转为开放、</a:t>
                      </a:r>
                      <a:r>
                        <a:rPr lang="en-US" altLang="zh-CN" sz="1600"/>
                        <a:t>decoder-only</a:t>
                      </a:r>
                      <a:r>
                        <a:rPr lang="zh-CN" altLang="en-US" sz="1600"/>
                        <a:t>、面向下游微调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r>
                        <a:rPr lang="en-US" altLang="zh-CN" sz="1600">
                          <a:hlinkClick r:id="rId5"/>
                        </a:rPr>
                        <a:t>PaliGemma 2</a:t>
                      </a:r>
                      <a:endParaRPr lang="en-US" altLang="zh-CN" sz="1600">
                        <a:hlinkClick r:id="rId5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2024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同一 </a:t>
                      </a:r>
                      <a:r>
                        <a:rPr lang="en-US" altLang="zh-CN" sz="1600"/>
                        <a:t>SigLIP + Gemma 2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3/10/28B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扩展语言核心和任务迁移能力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5360">
                <a:tc>
                  <a:txBody>
                    <a:bodyPr/>
                    <a:p>
                      <a:r>
                        <a:rPr lang="en-US" altLang="zh-CN" sz="1600">
                          <a:hlinkClick r:id="rId6"/>
                        </a:rPr>
                        <a:t>Gemma 3 Vision</a:t>
                      </a:r>
                      <a:endParaRPr lang="en-US" altLang="zh-CN" sz="1600">
                        <a:hlinkClick r:id="rId6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2025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SigLIP → </a:t>
                      </a:r>
                      <a:r>
                        <a:rPr lang="zh-CN" altLang="en-US" sz="1600"/>
                        <a:t>固定</a:t>
                      </a:r>
                      <a:r>
                        <a:rPr lang="en-US" altLang="zh-CN" sz="1600"/>
                        <a:t>256</a:t>
                      </a:r>
                      <a:r>
                        <a:rPr lang="zh-CN" altLang="en-US" sz="1600"/>
                        <a:t>视觉 </a:t>
                      </a:r>
                      <a:r>
                        <a:rPr lang="en-US" altLang="zh-CN" sz="1600"/>
                        <a:t>token → Gemma 3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4/12/27B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视觉进入通用 </a:t>
                      </a:r>
                      <a:r>
                        <a:rPr lang="en-US" altLang="zh-CN" sz="1600"/>
                        <a:t>Gemma</a:t>
                      </a:r>
                      <a:r>
                        <a:rPr lang="zh-CN" altLang="en-US" sz="1600"/>
                        <a:t>，支持长上下文、多轮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5360">
                <a:tc>
                  <a:txBody>
                    <a:bodyPr/>
                    <a:p>
                      <a:r>
                        <a:rPr lang="en-US" altLang="zh-CN" sz="1600">
                          <a:hlinkClick r:id="rId7"/>
                        </a:rPr>
                        <a:t>Gemma 4</a:t>
                      </a:r>
                      <a:endParaRPr lang="en-US" altLang="zh-CN" sz="1600">
                        <a:hlinkClick r:id="rId7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2026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多种视觉架构；</a:t>
                      </a:r>
                      <a:r>
                        <a:rPr lang="en-US" altLang="zh-CN" sz="1600"/>
                        <a:t>12B Unified </a:t>
                      </a:r>
                      <a:r>
                        <a:rPr lang="zh-CN" altLang="en-US" sz="1600"/>
                        <a:t>取消独立 </a:t>
                      </a:r>
                      <a:r>
                        <a:rPr lang="en-US" altLang="zh-CN" sz="1600"/>
                        <a:t>ViT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E2B/E4B/12B/26B-A4B/31B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从外挂视觉塔走向统一 </a:t>
                      </a:r>
                      <a:r>
                        <a:rPr lang="en-US" altLang="zh-CN" sz="1600"/>
                        <a:t>multimodal decoder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2026-09-02-10-31-07-mermaid-diagram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1045" y="530225"/>
            <a:ext cx="3692525" cy="57410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30" y="325755"/>
            <a:ext cx="4991100" cy="443865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268730" y="476313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这块对着代码看，其中有一部分是</a:t>
            </a:r>
            <a:r>
              <a:rPr lang="en-US" altLang="zh-CN"/>
              <a:t>Attention</a:t>
            </a:r>
            <a:r>
              <a:rPr lang="zh-CN" altLang="en-US"/>
              <a:t>部分的</a:t>
            </a:r>
            <a:r>
              <a:rPr lang="en-US" altLang="zh-CN"/>
              <a:t>shape</a:t>
            </a:r>
            <a:r>
              <a:rPr lang="zh-CN" altLang="en-US"/>
              <a:t>我没太看明白</a:t>
            </a:r>
            <a:endParaRPr lang="zh-CN" altLang="en-US"/>
          </a:p>
          <a:p>
            <a:r>
              <a:rPr lang="zh-CN" altLang="en-US"/>
              <a:t>如果只是读注释</a:t>
            </a:r>
            <a:r>
              <a:rPr lang="en-US" altLang="zh-CN"/>
              <a:t> </a:t>
            </a:r>
            <a:r>
              <a:rPr lang="zh-CN" altLang="en-US"/>
              <a:t>可以搞清楚每一块在干什么</a:t>
            </a:r>
            <a:endParaRPr lang="zh-CN" altLang="en-US"/>
          </a:p>
          <a:p>
            <a:r>
              <a:rPr lang="en-US" altLang="zh-CN"/>
              <a:t>forward() func</a:t>
            </a:r>
            <a:r>
              <a:rPr lang="zh-CN" altLang="en-US"/>
              <a:t>那部分有一些</a:t>
            </a:r>
            <a:r>
              <a:rPr lang="en-US" altLang="zh-CN"/>
              <a:t>qkv</a:t>
            </a:r>
            <a:r>
              <a:rPr lang="zh-CN" altLang="en-US"/>
              <a:t>的拼接</a:t>
            </a:r>
            <a:endParaRPr lang="en-US" altLang="zh-CN"/>
          </a:p>
        </p:txBody>
      </p:sp>
      <p:graphicFrame>
        <p:nvGraphicFramePr>
          <p:cNvPr id="4" name="Table 3"/>
          <p:cNvGraphicFramePr/>
          <p:nvPr/>
        </p:nvGraphicFramePr>
        <p:xfrm>
          <a:off x="6442710" y="0"/>
          <a:ext cx="5749290" cy="2342515"/>
        </p:xfrm>
        <a:graphic>
          <a:graphicData uri="http://schemas.openxmlformats.org/drawingml/2006/table">
            <a:tbl>
              <a:tblPr/>
              <a:tblGrid>
                <a:gridCol w="1916430"/>
                <a:gridCol w="1916430"/>
                <a:gridCol w="1916430"/>
              </a:tblGrid>
              <a:tr h="468630">
                <a:tc>
                  <a:txBody>
                    <a:bodyPr/>
                    <a:p>
                      <a:r>
                        <a:rPr lang="en-US" altLang="zh-CN" sz="1800"/>
                        <a:t>Token</a:t>
                      </a:r>
                      <a:r>
                        <a:rPr lang="zh-CN" altLang="en-US" sz="1800"/>
                        <a:t>块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what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which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36625">
                <a:tc>
                  <a:txBody>
                    <a:bodyPr/>
                    <a:p>
                      <a:r>
                        <a:rPr lang="en-US" altLang="zh-CN" sz="1800"/>
                        <a:t>Prefix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多相机图像</a:t>
                      </a:r>
                      <a:r>
                        <a:rPr lang="en-US" altLang="zh-CN" sz="1800"/>
                        <a:t>Token</a:t>
                      </a:r>
                      <a:r>
                        <a:rPr lang="zh-CN" altLang="en-US" sz="1800"/>
                        <a:t>＋语言</a:t>
                      </a:r>
                      <a:r>
                        <a:rPr lang="en-US" altLang="zh-CN" sz="1800"/>
                        <a:t>Token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PaliGemma</a:t>
                      </a:r>
                      <a:r>
                        <a:rPr lang="zh-CN" altLang="en-US" sz="1800"/>
                        <a:t>：</a:t>
                      </a:r>
                      <a:r>
                        <a:rPr lang="en-US" altLang="zh-CN" sz="1800"/>
                        <a:t>SigLIP</a:t>
                      </a:r>
                      <a:r>
                        <a:rPr lang="zh-CN" altLang="en-US" sz="1800"/>
                        <a:t>＋</a:t>
                      </a:r>
                      <a:r>
                        <a:rPr lang="en-US" altLang="zh-CN" sz="1800"/>
                        <a:t>Gemma-2B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37260">
                <a:tc>
                  <a:txBody>
                    <a:bodyPr/>
                    <a:p>
                      <a:r>
                        <a:rPr lang="en-US" altLang="zh-CN" sz="1800"/>
                        <a:t>Suffix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1</a:t>
                      </a:r>
                      <a:r>
                        <a:rPr lang="zh-CN" altLang="en-US" sz="1800"/>
                        <a:t>个状态</a:t>
                      </a:r>
                      <a:r>
                        <a:rPr lang="en-US" altLang="zh-CN" sz="1800"/>
                        <a:t>Token</a:t>
                      </a:r>
                      <a:r>
                        <a:rPr lang="zh-CN" altLang="en-US" sz="1800"/>
                        <a:t>＋</a:t>
                      </a:r>
                      <a:r>
                        <a:rPr lang="en-US" altLang="zh-CN" sz="1800"/>
                        <a:t>50</a:t>
                      </a:r>
                      <a:r>
                        <a:rPr lang="zh-CN" altLang="en-US" sz="1800"/>
                        <a:t>个含噪动作</a:t>
                      </a:r>
                      <a:r>
                        <a:rPr lang="en-US" altLang="zh-CN" sz="1800"/>
                        <a:t>Token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Gemma-300M Action Expert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442710" y="2552065"/>
            <a:ext cx="58661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prefix_emb			qkv and ffn</a:t>
            </a:r>
            <a:endParaRPr lang="en-US"/>
          </a:p>
          <a:p>
            <a:pPr indent="457200"/>
            <a:r>
              <a:rPr lang="en-US"/>
              <a:t>+	    ---&gt; cross-attention ----&gt;</a:t>
            </a:r>
            <a:endParaRPr lang="en-US"/>
          </a:p>
          <a:p>
            <a:r>
              <a:rPr lang="en-US"/>
              <a:t>suffix_emb			qkv and ffn 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6442710" y="3951605"/>
          <a:ext cx="5245100" cy="1902460"/>
        </p:xfrm>
        <a:graphic>
          <a:graphicData uri="http://schemas.openxmlformats.org/drawingml/2006/table">
            <a:tbl>
              <a:tblPr/>
              <a:tblGrid>
                <a:gridCol w="1311275"/>
                <a:gridCol w="1311275"/>
                <a:gridCol w="1311275"/>
                <a:gridCol w="1311275"/>
              </a:tblGrid>
              <a:tr h="475615">
                <a:tc>
                  <a:txBody>
                    <a:bodyPr/>
                    <a:p>
                      <a:r>
                        <a:rPr lang="en-US" altLang="zh-CN" sz="1600"/>
                        <a:t>Query \ Key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zh-CN" altLang="en-US" sz="1600"/>
                        <a:t>图像＋语言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State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Action Chunk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5615">
                <a:tc>
                  <a:txBody>
                    <a:bodyPr/>
                    <a:p>
                      <a:r>
                        <a:rPr lang="zh-CN" altLang="en-US" sz="1600"/>
                        <a:t>图像＋语言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✗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✗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5615">
                <a:tc>
                  <a:txBody>
                    <a:bodyPr/>
                    <a:p>
                      <a:r>
                        <a:rPr lang="en-US" altLang="zh-CN" sz="1600"/>
                        <a:t>State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✗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5615">
                <a:tc>
                  <a:txBody>
                    <a:bodyPr/>
                    <a:p>
                      <a:r>
                        <a:rPr lang="en-US" altLang="zh-CN" sz="1600"/>
                        <a:t>Action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/>
                      <a:r>
                        <a:rPr lang="en-US" altLang="zh-CN" sz="1600"/>
                        <a:t>✓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6442710" y="5854700"/>
            <a:ext cx="5523865" cy="1076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PaliGemma</a:t>
            </a:r>
            <a:r>
              <a:rPr lang="zh-CN" altLang="en-US"/>
              <a:t>看不到含噪动作，所以视觉语言条件不受去噪过程干扰；动作</a:t>
            </a:r>
            <a:r>
              <a:rPr lang="en-US" altLang="en-US"/>
              <a:t>Token</a:t>
            </a:r>
            <a:r>
              <a:rPr lang="zh-CN" altLang="en-US"/>
              <a:t>可以看到全部图像、语言、状态以及其他动作</a:t>
            </a:r>
            <a:r>
              <a:rPr lang="en-US" altLang="en-US"/>
              <a:t>Token。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占位符 34"/>
          <p:cNvPicPr>
            <a:picLocks noGrp="1" noChangeAspect="1"/>
          </p:cNvPicPr>
          <p:nvPr>
            <p:ph type="pic" idx="10"/>
          </p:nvPr>
        </p:nvPicPr>
        <p:blipFill>
          <a:blip r:embed="rId1"/>
          <a:srcRect l="44" r="44"/>
          <a:stretch>
            <a:fillRect/>
          </a:stretch>
        </p:blipFill>
        <p:spPr>
          <a:xfrm>
            <a:off x="0" y="-3175"/>
            <a:ext cx="12192000" cy="3429000"/>
          </a:xfrm>
        </p:spPr>
      </p:pic>
      <p:sp>
        <p:nvSpPr>
          <p:cNvPr id="5" name="矩形 4"/>
          <p:cNvSpPr/>
          <p:nvPr/>
        </p:nvSpPr>
        <p:spPr>
          <a:xfrm>
            <a:off x="1072054" y="-1"/>
            <a:ext cx="2638098" cy="531823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感谢</a:t>
            </a:r>
            <a:endParaRPr kumimoji="0" lang="zh-CN" altLang="en-US" sz="7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650123" y="3932052"/>
            <a:ext cx="1628038" cy="1146862"/>
            <a:chOff x="1660634" y="3837459"/>
            <a:chExt cx="1628038" cy="1146862"/>
          </a:xfrm>
        </p:grpSpPr>
        <p:sp>
          <p:nvSpPr>
            <p:cNvPr id="7" name="文本框 6"/>
            <p:cNvSpPr txBox="1"/>
            <p:nvPr/>
          </p:nvSpPr>
          <p:spPr>
            <a:xfrm>
              <a:off x="1660634" y="3837459"/>
              <a:ext cx="1460938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722631" y="4585541"/>
              <a:ext cx="1566041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30" name="直接连接符 29"/>
          <p:cNvCxnSpPr/>
          <p:nvPr/>
        </p:nvCxnSpPr>
        <p:spPr>
          <a:xfrm>
            <a:off x="1452559" y="0"/>
            <a:ext cx="0" cy="40912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458880" y="4091233"/>
            <a:ext cx="0" cy="88517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50*230"/>
  <p:tag name="TABLE_ENDDRAG_RECT" val="100*0*850*230"/>
</p:tagLst>
</file>

<file path=ppt/tags/tag2.xml><?xml version="1.0" encoding="utf-8"?>
<p:tagLst xmlns:p="http://schemas.openxmlformats.org/presentationml/2006/main">
  <p:tag name="TABLE_ENDDRAG_ORIGIN_RECT" val="883*416"/>
  <p:tag name="TABLE_ENDDRAG_RECT" val="67*119*884*416"/>
</p:tagLst>
</file>

<file path=ppt/tags/tag3.xml><?xml version="1.0" encoding="utf-8"?>
<p:tagLst xmlns:p="http://schemas.openxmlformats.org/presentationml/2006/main">
  <p:tag name="TABLE_ENDDRAG_ORIGIN_RECT" val="412*149"/>
  <p:tag name="TABLE_ENDDRAG_RECT" val="507*311*412*149"/>
</p:tagLst>
</file>

<file path=ppt/tags/tag4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母校模板-终稿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B92917"/>
      </a:accent1>
      <a:accent2>
        <a:srgbClr val="DA1D1C"/>
      </a:accent2>
      <a:accent3>
        <a:srgbClr val="FF2800"/>
      </a:accent3>
      <a:accent4>
        <a:srgbClr val="FF4F1E"/>
      </a:accent4>
      <a:accent5>
        <a:srgbClr val="979997"/>
      </a:accent5>
      <a:accent6>
        <a:srgbClr val="AD0000"/>
      </a:accent6>
      <a:hlink>
        <a:srgbClr val="4472C4"/>
      </a:hlink>
      <a:folHlink>
        <a:srgbClr val="BFBFBF"/>
      </a:folHlink>
    </a:clrScheme>
    <a:fontScheme name="母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4248</Words>
  <Application>WPS Presentation</Application>
  <PresentationFormat>宽屏</PresentationFormat>
  <Paragraphs>493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8" baseType="lpstr">
      <vt:lpstr>Arial</vt:lpstr>
      <vt:lpstr>SimSun</vt:lpstr>
      <vt:lpstr>Wingdings</vt:lpstr>
      <vt:lpstr>Liberation Sans</vt:lpstr>
      <vt:lpstr>Microsoft YaHei</vt:lpstr>
      <vt:lpstr>思源黑体 CN</vt:lpstr>
      <vt:lpstr>Calibri</vt:lpstr>
      <vt:lpstr>等线</vt:lpstr>
      <vt:lpstr>Microsoft YaHei</vt:lpstr>
      <vt:lpstr>Segoe UI</vt:lpstr>
      <vt:lpstr>Segoe UI Light</vt:lpstr>
      <vt:lpstr>C059</vt:lpstr>
      <vt:lpstr>Microsoft YaHei</vt:lpstr>
      <vt:lpstr>Impact</vt:lpstr>
      <vt:lpstr>Noto Kufi Arabic Black</vt:lpstr>
      <vt:lpstr>Arial</vt:lpstr>
      <vt:lpstr>Microsoft YaHei</vt:lpstr>
      <vt:lpstr>Arial Unicode MS</vt:lpstr>
      <vt:lpstr>HYZhongYuanB5</vt:lpstr>
      <vt:lpstr>SimSun</vt:lpstr>
      <vt:lpstr>Noto Serif CJK SC</vt:lpstr>
      <vt:lpstr>Microsoft YaHei</vt:lpstr>
      <vt:lpstr>Noto Color Emoji</vt:lpstr>
      <vt:lpstr>等线</vt:lpstr>
      <vt:lpstr>GWZT-EN</vt:lpstr>
      <vt:lpstr>Adwaita Mono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龙飞 刘</dc:creator>
  <cp:lastModifiedBy>许盛凯</cp:lastModifiedBy>
  <cp:revision>435</cp:revision>
  <dcterms:created xsi:type="dcterms:W3CDTF">2026-09-15T06:55:35Z</dcterms:created>
  <dcterms:modified xsi:type="dcterms:W3CDTF">2026-09-15T06:55:35Z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2019-04-12T02:49:58.4174780Z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1ece3977-31ea-4462-b86e-c82828c1a194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B0889BAC861FACF5CAD7A76A10B064FB_43</vt:lpwstr>
  </property>
  <property fmtid="{D5CDD505-2E9C-101B-9397-08002B2CF9AE}" pid="12" name="KSOProductBuildVer">
    <vt:lpwstr>1033-12.1.2.28080</vt:lpwstr>
  </property>
</Properties>
</file>